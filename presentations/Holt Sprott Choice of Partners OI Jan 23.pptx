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3"/>
  </p:notesMasterIdLst>
  <p:sldIdLst>
    <p:sldId id="256" r:id="rId2"/>
    <p:sldId id="395" r:id="rId3"/>
    <p:sldId id="399" r:id="rId4"/>
    <p:sldId id="391" r:id="rId5"/>
    <p:sldId id="379" r:id="rId6"/>
    <p:sldId id="397" r:id="rId7"/>
    <p:sldId id="275" r:id="rId8"/>
    <p:sldId id="390" r:id="rId9"/>
    <p:sldId id="257" r:id="rId10"/>
    <p:sldId id="398" r:id="rId11"/>
    <p:sldId id="408" r:id="rId12"/>
    <p:sldId id="415" r:id="rId13"/>
    <p:sldId id="420" r:id="rId14"/>
    <p:sldId id="422" r:id="rId15"/>
    <p:sldId id="423" r:id="rId16"/>
    <p:sldId id="424" r:id="rId17"/>
    <p:sldId id="425" r:id="rId18"/>
    <p:sldId id="405" r:id="rId19"/>
    <p:sldId id="393" r:id="rId20"/>
    <p:sldId id="406" r:id="rId21"/>
    <p:sldId id="386" r:id="rId22"/>
    <p:sldId id="387" r:id="rId23"/>
    <p:sldId id="388" r:id="rId24"/>
    <p:sldId id="392" r:id="rId25"/>
    <p:sldId id="394" r:id="rId26"/>
    <p:sldId id="410" r:id="rId27"/>
    <p:sldId id="414" r:id="rId28"/>
    <p:sldId id="411" r:id="rId29"/>
    <p:sldId id="412" r:id="rId30"/>
    <p:sldId id="413" r:id="rId31"/>
    <p:sldId id="419"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792" autoAdjust="0"/>
  </p:normalViewPr>
  <p:slideViewPr>
    <p:cSldViewPr snapToGrid="0">
      <p:cViewPr varScale="1">
        <p:scale>
          <a:sx n="67" d="100"/>
          <a:sy n="67" d="100"/>
        </p:scale>
        <p:origin x="62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CE6351-E677-444B-ACE4-39312B2B94C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95A52E27-3F56-4C19-86D7-10BDD5146E87}">
      <dgm:prSet/>
      <dgm:spPr>
        <a:solidFill>
          <a:schemeClr val="accent1">
            <a:lumMod val="50000"/>
          </a:schemeClr>
        </a:solidFill>
      </dgm:spPr>
      <dgm:t>
        <a:bodyPr/>
        <a:lstStyle/>
        <a:p>
          <a:r>
            <a:rPr lang="en-US" b="1" dirty="0"/>
            <a:t>Dominant Strategy: </a:t>
          </a:r>
          <a:r>
            <a:rPr lang="en-US" dirty="0"/>
            <a:t>Defection results in an extra $1 in current earnings, regardless of whether the other person cooperates or defects</a:t>
          </a:r>
        </a:p>
      </dgm:t>
    </dgm:pt>
    <dgm:pt modelId="{980760FD-EC38-4DED-B0DA-1B902EAF7018}" type="parTrans" cxnId="{53F2C699-6819-4E23-B15B-F026D7F287A9}">
      <dgm:prSet/>
      <dgm:spPr/>
      <dgm:t>
        <a:bodyPr/>
        <a:lstStyle/>
        <a:p>
          <a:endParaRPr lang="en-US"/>
        </a:p>
      </dgm:t>
    </dgm:pt>
    <dgm:pt modelId="{081BFA74-891A-4EDE-9F86-9EE4008F30A4}" type="sibTrans" cxnId="{53F2C699-6819-4E23-B15B-F026D7F287A9}">
      <dgm:prSet/>
      <dgm:spPr/>
      <dgm:t>
        <a:bodyPr/>
        <a:lstStyle/>
        <a:p>
          <a:endParaRPr lang="en-US"/>
        </a:p>
      </dgm:t>
    </dgm:pt>
    <dgm:pt modelId="{96EB2C1F-724F-4BC9-9450-293EFC5B4D50}">
      <dgm:prSet/>
      <dgm:spPr>
        <a:solidFill>
          <a:schemeClr val="accent1">
            <a:lumMod val="50000"/>
          </a:schemeClr>
        </a:solidFill>
      </dgm:spPr>
      <dgm:t>
        <a:bodyPr/>
        <a:lstStyle/>
        <a:p>
          <a:r>
            <a:rPr lang="en-US" b="1" dirty="0"/>
            <a:t>Repeated Games: </a:t>
          </a:r>
          <a:r>
            <a:rPr lang="en-US" dirty="0"/>
            <a:t> In a repeated game, defection hurts earnings in later rounds</a:t>
          </a:r>
        </a:p>
      </dgm:t>
    </dgm:pt>
    <dgm:pt modelId="{5F77BF72-AC7C-4217-A4C5-997851EBC20F}" type="parTrans" cxnId="{3D1B8555-0DDC-4B54-A9D8-B2106C253772}">
      <dgm:prSet/>
      <dgm:spPr/>
      <dgm:t>
        <a:bodyPr/>
        <a:lstStyle/>
        <a:p>
          <a:endParaRPr lang="en-US"/>
        </a:p>
      </dgm:t>
    </dgm:pt>
    <dgm:pt modelId="{A36E0B20-4F76-4D8C-ACF0-C3B4B72013E0}" type="sibTrans" cxnId="{3D1B8555-0DDC-4B54-A9D8-B2106C253772}">
      <dgm:prSet/>
      <dgm:spPr/>
      <dgm:t>
        <a:bodyPr/>
        <a:lstStyle/>
        <a:p>
          <a:endParaRPr lang="en-US"/>
        </a:p>
      </dgm:t>
    </dgm:pt>
    <dgm:pt modelId="{D84B2A00-CD53-4AF2-BCA7-30F55C27D200}">
      <dgm:prSet/>
      <dgm:spPr>
        <a:solidFill>
          <a:schemeClr val="accent1">
            <a:lumMod val="50000"/>
          </a:schemeClr>
        </a:solidFill>
      </dgm:spPr>
      <dgm:t>
        <a:bodyPr/>
        <a:lstStyle/>
        <a:p>
          <a:r>
            <a:rPr lang="en-US" b="1" dirty="0"/>
            <a:t>Multiple Partners: </a:t>
          </a:r>
          <a:r>
            <a:rPr lang="en-US" dirty="0"/>
            <a:t>Defection is worse in a repeated game when you can meet new people, creating a “poison pool” of partners with no trust</a:t>
          </a:r>
        </a:p>
      </dgm:t>
    </dgm:pt>
    <dgm:pt modelId="{7638F417-D788-4A48-BF3B-4F4B096BEC5F}" type="parTrans" cxnId="{0B4B239D-D629-4934-B254-D5366B8DE978}">
      <dgm:prSet/>
      <dgm:spPr/>
      <dgm:t>
        <a:bodyPr/>
        <a:lstStyle/>
        <a:p>
          <a:endParaRPr lang="en-US"/>
        </a:p>
      </dgm:t>
    </dgm:pt>
    <dgm:pt modelId="{152B3E2F-7173-4ADC-A114-9FD140785B67}" type="sibTrans" cxnId="{0B4B239D-D629-4934-B254-D5366B8DE978}">
      <dgm:prSet/>
      <dgm:spPr/>
      <dgm:t>
        <a:bodyPr/>
        <a:lstStyle/>
        <a:p>
          <a:endParaRPr lang="en-US"/>
        </a:p>
      </dgm:t>
    </dgm:pt>
    <dgm:pt modelId="{18B658A1-3460-4A94-8376-F54CEF18A92E}" type="pres">
      <dgm:prSet presAssocID="{E7CE6351-E677-444B-ACE4-39312B2B94C4}" presName="linear" presStyleCnt="0">
        <dgm:presLayoutVars>
          <dgm:animLvl val="lvl"/>
          <dgm:resizeHandles val="exact"/>
        </dgm:presLayoutVars>
      </dgm:prSet>
      <dgm:spPr/>
    </dgm:pt>
    <dgm:pt modelId="{18695A59-A666-410F-9B21-DD9F81E45200}" type="pres">
      <dgm:prSet presAssocID="{95A52E27-3F56-4C19-86D7-10BDD5146E87}" presName="parentText" presStyleLbl="node1" presStyleIdx="0" presStyleCnt="3" custLinFactY="-21366" custLinFactNeighborY="-100000">
        <dgm:presLayoutVars>
          <dgm:chMax val="0"/>
          <dgm:bulletEnabled val="1"/>
        </dgm:presLayoutVars>
      </dgm:prSet>
      <dgm:spPr/>
    </dgm:pt>
    <dgm:pt modelId="{F378433F-A590-4DFD-8A1B-D5ABEBAF5A05}" type="pres">
      <dgm:prSet presAssocID="{081BFA74-891A-4EDE-9F86-9EE4008F30A4}" presName="spacer" presStyleCnt="0"/>
      <dgm:spPr/>
    </dgm:pt>
    <dgm:pt modelId="{7CDF1441-13C6-4397-8E8D-5C5F1CFCCD6C}" type="pres">
      <dgm:prSet presAssocID="{96EB2C1F-724F-4BC9-9450-293EFC5B4D50}" presName="parentText" presStyleLbl="node1" presStyleIdx="1" presStyleCnt="3" custLinFactNeighborY="14284">
        <dgm:presLayoutVars>
          <dgm:chMax val="0"/>
          <dgm:bulletEnabled val="1"/>
        </dgm:presLayoutVars>
      </dgm:prSet>
      <dgm:spPr/>
    </dgm:pt>
    <dgm:pt modelId="{32D79526-5C49-4E1F-A7C8-999D30C0A634}" type="pres">
      <dgm:prSet presAssocID="{A36E0B20-4F76-4D8C-ACF0-C3B4B72013E0}" presName="spacer" presStyleCnt="0"/>
      <dgm:spPr/>
    </dgm:pt>
    <dgm:pt modelId="{4E581BFE-865A-4E61-84E0-6A0583F94DF1}" type="pres">
      <dgm:prSet presAssocID="{D84B2A00-CD53-4AF2-BCA7-30F55C27D200}" presName="parentText" presStyleLbl="node1" presStyleIdx="2" presStyleCnt="3" custLinFactY="40649" custLinFactNeighborY="100000">
        <dgm:presLayoutVars>
          <dgm:chMax val="0"/>
          <dgm:bulletEnabled val="1"/>
        </dgm:presLayoutVars>
      </dgm:prSet>
      <dgm:spPr/>
    </dgm:pt>
  </dgm:ptLst>
  <dgm:cxnLst>
    <dgm:cxn modelId="{98287E48-309C-43CB-A8D8-13771666345E}" type="presOf" srcId="{96EB2C1F-724F-4BC9-9450-293EFC5B4D50}" destId="{7CDF1441-13C6-4397-8E8D-5C5F1CFCCD6C}" srcOrd="0" destOrd="0" presId="urn:microsoft.com/office/officeart/2005/8/layout/vList2"/>
    <dgm:cxn modelId="{3D1B8555-0DDC-4B54-A9D8-B2106C253772}" srcId="{E7CE6351-E677-444B-ACE4-39312B2B94C4}" destId="{96EB2C1F-724F-4BC9-9450-293EFC5B4D50}" srcOrd="1" destOrd="0" parTransId="{5F77BF72-AC7C-4217-A4C5-997851EBC20F}" sibTransId="{A36E0B20-4F76-4D8C-ACF0-C3B4B72013E0}"/>
    <dgm:cxn modelId="{C50B137C-591C-484A-96E5-2D70BD16B18B}" type="presOf" srcId="{D84B2A00-CD53-4AF2-BCA7-30F55C27D200}" destId="{4E581BFE-865A-4E61-84E0-6A0583F94DF1}" srcOrd="0" destOrd="0" presId="urn:microsoft.com/office/officeart/2005/8/layout/vList2"/>
    <dgm:cxn modelId="{E2B29793-D91D-4F27-8CCE-469AB98896D9}" type="presOf" srcId="{95A52E27-3F56-4C19-86D7-10BDD5146E87}" destId="{18695A59-A666-410F-9B21-DD9F81E45200}" srcOrd="0" destOrd="0" presId="urn:microsoft.com/office/officeart/2005/8/layout/vList2"/>
    <dgm:cxn modelId="{53F2C699-6819-4E23-B15B-F026D7F287A9}" srcId="{E7CE6351-E677-444B-ACE4-39312B2B94C4}" destId="{95A52E27-3F56-4C19-86D7-10BDD5146E87}" srcOrd="0" destOrd="0" parTransId="{980760FD-EC38-4DED-B0DA-1B902EAF7018}" sibTransId="{081BFA74-891A-4EDE-9F86-9EE4008F30A4}"/>
    <dgm:cxn modelId="{0B4B239D-D629-4934-B254-D5366B8DE978}" srcId="{E7CE6351-E677-444B-ACE4-39312B2B94C4}" destId="{D84B2A00-CD53-4AF2-BCA7-30F55C27D200}" srcOrd="2" destOrd="0" parTransId="{7638F417-D788-4A48-BF3B-4F4B096BEC5F}" sibTransId="{152B3E2F-7173-4ADC-A114-9FD140785B67}"/>
    <dgm:cxn modelId="{4B2418FC-C81A-49E3-B000-B53D1B1D0FE7}" type="presOf" srcId="{E7CE6351-E677-444B-ACE4-39312B2B94C4}" destId="{18B658A1-3460-4A94-8376-F54CEF18A92E}" srcOrd="0" destOrd="0" presId="urn:microsoft.com/office/officeart/2005/8/layout/vList2"/>
    <dgm:cxn modelId="{88D2238B-D932-403B-BCE6-76D68AE8D399}" type="presParOf" srcId="{18B658A1-3460-4A94-8376-F54CEF18A92E}" destId="{18695A59-A666-410F-9B21-DD9F81E45200}" srcOrd="0" destOrd="0" presId="urn:microsoft.com/office/officeart/2005/8/layout/vList2"/>
    <dgm:cxn modelId="{4E1F7E6E-E930-4183-95CA-687930D2BB73}" type="presParOf" srcId="{18B658A1-3460-4A94-8376-F54CEF18A92E}" destId="{F378433F-A590-4DFD-8A1B-D5ABEBAF5A05}" srcOrd="1" destOrd="0" presId="urn:microsoft.com/office/officeart/2005/8/layout/vList2"/>
    <dgm:cxn modelId="{BED9FC17-482E-4AEF-A2E0-42B516AB3386}" type="presParOf" srcId="{18B658A1-3460-4A94-8376-F54CEF18A92E}" destId="{7CDF1441-13C6-4397-8E8D-5C5F1CFCCD6C}" srcOrd="2" destOrd="0" presId="urn:microsoft.com/office/officeart/2005/8/layout/vList2"/>
    <dgm:cxn modelId="{17E7170B-0897-4ABB-8549-048635E642EC}" type="presParOf" srcId="{18B658A1-3460-4A94-8376-F54CEF18A92E}" destId="{32D79526-5C49-4E1F-A7C8-999D30C0A634}" srcOrd="3" destOrd="0" presId="urn:microsoft.com/office/officeart/2005/8/layout/vList2"/>
    <dgm:cxn modelId="{97C878DB-2029-4037-A9AD-A281F5948DE6}" type="presParOf" srcId="{18B658A1-3460-4A94-8376-F54CEF18A92E}" destId="{4E581BFE-865A-4E61-84E0-6A0583F94DF1}"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695A59-A666-410F-9B21-DD9F81E45200}">
      <dsp:nvSpPr>
        <dsp:cNvPr id="0" name=""/>
        <dsp:cNvSpPr/>
      </dsp:nvSpPr>
      <dsp:spPr>
        <a:xfrm>
          <a:off x="0" y="137902"/>
          <a:ext cx="10021584" cy="1034280"/>
        </a:xfrm>
        <a:prstGeom prst="roundRect">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t>Dominant Strategy: </a:t>
          </a:r>
          <a:r>
            <a:rPr lang="en-US" sz="2600" kern="1200" dirty="0"/>
            <a:t>Defection results in an extra $1 in current earnings, regardless of whether the other person cooperates or defects</a:t>
          </a:r>
        </a:p>
      </dsp:txBody>
      <dsp:txXfrm>
        <a:off x="50489" y="188391"/>
        <a:ext cx="9920606" cy="933302"/>
      </dsp:txXfrm>
    </dsp:sp>
    <dsp:sp modelId="{7CDF1441-13C6-4397-8E8D-5C5F1CFCCD6C}">
      <dsp:nvSpPr>
        <dsp:cNvPr id="0" name=""/>
        <dsp:cNvSpPr/>
      </dsp:nvSpPr>
      <dsp:spPr>
        <a:xfrm>
          <a:off x="0" y="1553622"/>
          <a:ext cx="10021584" cy="1034280"/>
        </a:xfrm>
        <a:prstGeom prst="roundRect">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t>Repeated Games: </a:t>
          </a:r>
          <a:r>
            <a:rPr lang="en-US" sz="2600" kern="1200" dirty="0"/>
            <a:t> In a repeated game, defection hurts earnings in later rounds</a:t>
          </a:r>
        </a:p>
      </dsp:txBody>
      <dsp:txXfrm>
        <a:off x="50489" y="1604111"/>
        <a:ext cx="9920606" cy="933302"/>
      </dsp:txXfrm>
    </dsp:sp>
    <dsp:sp modelId="{4E581BFE-865A-4E61-84E0-6A0583F94DF1}">
      <dsp:nvSpPr>
        <dsp:cNvPr id="0" name=""/>
        <dsp:cNvSpPr/>
      </dsp:nvSpPr>
      <dsp:spPr>
        <a:xfrm>
          <a:off x="0" y="3085853"/>
          <a:ext cx="10021584" cy="1034280"/>
        </a:xfrm>
        <a:prstGeom prst="roundRect">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dirty="0"/>
            <a:t>Multiple Partners: </a:t>
          </a:r>
          <a:r>
            <a:rPr lang="en-US" sz="2600" kern="1200" dirty="0"/>
            <a:t>Defection is worse in a repeated game when you can meet new people, creating a “poison pool” of partners with no trust</a:t>
          </a:r>
        </a:p>
      </dsp:txBody>
      <dsp:txXfrm>
        <a:off x="50489" y="3136342"/>
        <a:ext cx="9920606" cy="93330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464FFF-D503-429A-A616-22F3C05EC351}" type="datetimeFigureOut">
              <a:rPr lang="en-US" smtClean="0"/>
              <a:t>1/9/2023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CC9274-A4EC-446F-8649-70FA5AA6E741}" type="slidenum">
              <a:rPr lang="en-US" smtClean="0"/>
              <a:t>‹#›</a:t>
            </a:fld>
            <a:endParaRPr lang="en-US"/>
          </a:p>
        </p:txBody>
      </p:sp>
    </p:spTree>
    <p:extLst>
      <p:ext uri="{BB962C8B-B14F-4D97-AF65-F5344CB8AC3E}">
        <p14:creationId xmlns:p14="http://schemas.microsoft.com/office/powerpoint/2010/main" val="2309525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pPr marL="0" indent="0">
              <a:buFontTx/>
              <a:buNone/>
            </a:pPr>
            <a:endParaRPr lang="en-US" dirty="0"/>
          </a:p>
          <a:p>
            <a:pPr marL="0" indent="0">
              <a:buFontTx/>
              <a:buNone/>
            </a:pPr>
            <a:endParaRPr lang="en-US" dirty="0"/>
          </a:p>
          <a:p>
            <a:pPr marL="0" indent="0">
              <a:buFontTx/>
              <a:buNone/>
            </a:pPr>
            <a:endParaRPr lang="en-US" dirty="0"/>
          </a:p>
          <a:p>
            <a:pPr marL="0" indent="0">
              <a:buFontTx/>
              <a:buNone/>
            </a:pPr>
            <a:endParaRPr lang="en-US" dirty="0"/>
          </a:p>
          <a:p>
            <a:pPr marL="0" indent="0">
              <a:buFontTx/>
              <a:buNone/>
            </a:pPr>
            <a:endParaRPr lang="en-US" dirty="0"/>
          </a:p>
          <a:p>
            <a:pPr marL="0" indent="0">
              <a:buFontTx/>
              <a:buNone/>
            </a:pPr>
            <a:r>
              <a:rPr lang="en-US" dirty="0"/>
              <a:t>I’m excited to present the preliminary results from this joint work with Charlie Holt at UVA. Today I’m going to talk about a series of experiments in which we see how competition can promote pro-social behavior in a market setting</a:t>
            </a:r>
          </a:p>
          <a:p>
            <a:endParaRPr lang="en-US" dirty="0"/>
          </a:p>
        </p:txBody>
      </p:sp>
      <p:sp>
        <p:nvSpPr>
          <p:cNvPr id="4" name="Slide Number Placeholder 3"/>
          <p:cNvSpPr>
            <a:spLocks noGrp="1"/>
          </p:cNvSpPr>
          <p:nvPr>
            <p:ph type="sldNum" sz="quarter" idx="5"/>
          </p:nvPr>
        </p:nvSpPr>
        <p:spPr/>
        <p:txBody>
          <a:bodyPr/>
          <a:lstStyle/>
          <a:p>
            <a:fld id="{0CCC9274-A4EC-446F-8649-70FA5AA6E741}" type="slidenum">
              <a:rPr lang="en-US" smtClean="0"/>
              <a:t>1</a:t>
            </a:fld>
            <a:endParaRPr lang="en-US"/>
          </a:p>
        </p:txBody>
      </p:sp>
    </p:spTree>
    <p:extLst>
      <p:ext uri="{BB962C8B-B14F-4D97-AF65-F5344CB8AC3E}">
        <p14:creationId xmlns:p14="http://schemas.microsoft.com/office/powerpoint/2010/main" val="1976958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There are instances in which outcomes in market experiments can conform closely with the classical, rationality-based predictions we teach in ECON 201 and 202. Even in small group settings, imperfect information can obscure ideas of, or awareness of fairness / equity in outcomes amongst participants. Competition can mask the effects of punishments for selfish behavior. Endowments, or initial imbalances in wealth or resources are also typically seen as more legitimate in a market setting.</a:t>
            </a:r>
          </a:p>
          <a:p>
            <a:pPr marL="171450" indent="-171450">
              <a:buFontTx/>
              <a:buChar char="-"/>
            </a:pPr>
            <a:endParaRPr lang="en-US" dirty="0"/>
          </a:p>
          <a:p>
            <a:pPr marL="171450" indent="-171450">
              <a:buFontTx/>
              <a:buChar char="-"/>
            </a:pPr>
            <a:r>
              <a:rPr lang="en-US" dirty="0"/>
              <a:t>But, there are also instances in which competition in market experiments can promote other-regarding, </a:t>
            </a:r>
            <a:r>
              <a:rPr lang="en-US" dirty="0" err="1"/>
              <a:t>nonselfish</a:t>
            </a:r>
            <a:r>
              <a:rPr lang="en-US" dirty="0"/>
              <a:t> behavior – by which we mean greater amounts of trust in other participants, reciprocity, and better outcomes overall. These instances are those in which people can choose who to deal with and who to avoid. </a:t>
            </a:r>
          </a:p>
        </p:txBody>
      </p:sp>
      <p:sp>
        <p:nvSpPr>
          <p:cNvPr id="4" name="Slide Number Placeholder 3"/>
          <p:cNvSpPr>
            <a:spLocks noGrp="1"/>
          </p:cNvSpPr>
          <p:nvPr>
            <p:ph type="sldNum" sz="quarter" idx="5"/>
          </p:nvPr>
        </p:nvSpPr>
        <p:spPr/>
        <p:txBody>
          <a:bodyPr/>
          <a:lstStyle/>
          <a:p>
            <a:fld id="{0CCC9274-A4EC-446F-8649-70FA5AA6E741}" type="slidenum">
              <a:rPr lang="en-US" smtClean="0"/>
              <a:t>2</a:t>
            </a:fld>
            <a:endParaRPr lang="en-US"/>
          </a:p>
        </p:txBody>
      </p:sp>
    </p:spTree>
    <p:extLst>
      <p:ext uri="{BB962C8B-B14F-4D97-AF65-F5344CB8AC3E}">
        <p14:creationId xmlns:p14="http://schemas.microsoft.com/office/powerpoint/2010/main" val="1722290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Vernon Smith and Bart Wilson’s 2019 book </a:t>
            </a:r>
            <a:r>
              <a:rPr lang="en-US" dirty="0" err="1"/>
              <a:t>Humanomics</a:t>
            </a:r>
            <a:r>
              <a:rPr lang="en-US" dirty="0"/>
              <a:t> discusses Adam Smith and his conception of two spheres, two worlds – the personal social, and the impersonal economic, and the very human problem of simultaneously living in these two worlds.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How do we distinguish between these two markets? Consider (1) your family, and (2) your grocery store, or your mechanic. Those impersonal economic markets provide easy exit options in which you can find a new grocer, or a new mechanic; that might otherwise not be available in the personal social world.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Even in markets with these exit options, competition can lead to behavior that is not purely self-interested.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We conducted a series of experiments using the Virginia Experimental Economic Lab software that illustrate how competition between potential partners in a trust game can foster this other-regarding behavior</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a:t>
            </a:r>
            <a:r>
              <a:rPr lang="en-US" b="1" dirty="0" err="1"/>
              <a:t>Humanomics</a:t>
            </a:r>
            <a:r>
              <a:rPr lang="en-US" dirty="0"/>
              <a:t>, the very human problem of simultaneously living in these two worlds, the personal social and the impersonal economic.”  </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endParaRPr lang="en-US" dirty="0"/>
          </a:p>
        </p:txBody>
      </p:sp>
      <p:sp>
        <p:nvSpPr>
          <p:cNvPr id="4" name="Slide Number Placeholder 3"/>
          <p:cNvSpPr>
            <a:spLocks noGrp="1"/>
          </p:cNvSpPr>
          <p:nvPr>
            <p:ph type="sldNum" sz="quarter" idx="5"/>
          </p:nvPr>
        </p:nvSpPr>
        <p:spPr/>
        <p:txBody>
          <a:bodyPr/>
          <a:lstStyle/>
          <a:p>
            <a:fld id="{0CCC9274-A4EC-446F-8649-70FA5AA6E741}" type="slidenum">
              <a:rPr lang="en-US" smtClean="0"/>
              <a:t>3</a:t>
            </a:fld>
            <a:endParaRPr lang="en-US"/>
          </a:p>
        </p:txBody>
      </p:sp>
    </p:spTree>
    <p:extLst>
      <p:ext uri="{BB962C8B-B14F-4D97-AF65-F5344CB8AC3E}">
        <p14:creationId xmlns:p14="http://schemas.microsoft.com/office/powerpoint/2010/main" val="34562784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discuss more background work and the setup of the experiment, I want to briefly preview the results.</a:t>
            </a:r>
          </a:p>
          <a:p>
            <a:pPr marL="171450" indent="-171450">
              <a:buFontTx/>
              <a:buChar char="-"/>
            </a:pPr>
            <a:r>
              <a:rPr lang="en-US" dirty="0"/>
              <a:t>Through varying the levels of competition between potential partners in a trust game, we find that increased competition leads to specialization in profitable partnerships, and higher levels of trust overall.</a:t>
            </a:r>
          </a:p>
          <a:p>
            <a:pPr marL="171450" indent="-171450">
              <a:buFontTx/>
              <a:buChar char="-"/>
            </a:pPr>
            <a:r>
              <a:rPr lang="en-US" dirty="0"/>
              <a:t>What does this look like? Passing to one or few partners with high levels of trust, who engage in the most other-regarding behavior, and cutting off less profitable links over time.</a:t>
            </a:r>
          </a:p>
          <a:p>
            <a:pPr marL="171450" indent="-171450">
              <a:buFontTx/>
              <a:buChar char="-"/>
            </a:pPr>
            <a:endParaRPr lang="en-US" dirty="0"/>
          </a:p>
          <a:p>
            <a:pPr marL="171450" indent="-171450">
              <a:buFontTx/>
              <a:buChar char="-"/>
            </a:pPr>
            <a:endParaRPr lang="en-US" dirty="0"/>
          </a:p>
          <a:p>
            <a:pPr marL="0" indent="0">
              <a:buFontTx/>
              <a:buNone/>
            </a:pPr>
            <a:r>
              <a:rPr lang="en-US" dirty="0"/>
              <a:t>4 minutes , maybe a little under!</a:t>
            </a:r>
          </a:p>
        </p:txBody>
      </p:sp>
      <p:sp>
        <p:nvSpPr>
          <p:cNvPr id="4" name="Slide Number Placeholder 3"/>
          <p:cNvSpPr>
            <a:spLocks noGrp="1"/>
          </p:cNvSpPr>
          <p:nvPr>
            <p:ph type="sldNum" sz="quarter" idx="5"/>
          </p:nvPr>
        </p:nvSpPr>
        <p:spPr/>
        <p:txBody>
          <a:bodyPr/>
          <a:lstStyle/>
          <a:p>
            <a:fld id="{0CCC9274-A4EC-446F-8649-70FA5AA6E741}" type="slidenum">
              <a:rPr lang="en-US" smtClean="0"/>
              <a:t>4</a:t>
            </a:fld>
            <a:endParaRPr lang="en-US"/>
          </a:p>
        </p:txBody>
      </p:sp>
    </p:spTree>
    <p:extLst>
      <p:ext uri="{BB962C8B-B14F-4D97-AF65-F5344CB8AC3E}">
        <p14:creationId xmlns:p14="http://schemas.microsoft.com/office/powerpoint/2010/main" val="627308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paper with Charlie has its foundation in earlier work of his with Cathleen Johnson and David </a:t>
            </a:r>
            <a:r>
              <a:rPr lang="en-US" dirty="0" err="1"/>
              <a:t>Schmidtz</a:t>
            </a:r>
            <a:r>
              <a:rPr lang="en-US" dirty="0"/>
              <a:t> in which they used a Choice of Partners Prisoner’s Dilemma Game to see how people create their own networks of trusting relationships and scale them up. This game operates in two phases in each round:</a:t>
            </a:r>
          </a:p>
          <a:p>
            <a:endParaRPr lang="en-US" dirty="0"/>
          </a:p>
          <a:p>
            <a:pPr marL="171450" indent="-171450">
              <a:buFontTx/>
              <a:buChar char="-"/>
            </a:pPr>
            <a:r>
              <a:rPr lang="en-US" dirty="0"/>
              <a:t>In the first phase, potential partners have to agree on a scale of interaction. Think of this as the ‘stakes’ of the relationship. The lowest stakes possible, scale 0, is analogous to exiting the relationship / deactivating a link between you and your partner. At the highest scale of 3 there is high potential for gains but also high potential for losses. Both partners choose a scale of interaction, the minimum value of which is used as the scale that round for those partners. </a:t>
            </a:r>
          </a:p>
          <a:p>
            <a:pPr marL="171450" indent="-171450">
              <a:buFontTx/>
              <a:buChar char="-"/>
            </a:pPr>
            <a:endParaRPr lang="en-US" dirty="0"/>
          </a:p>
          <a:p>
            <a:pPr marL="171450" indent="-171450">
              <a:buFontTx/>
              <a:buChar char="-"/>
            </a:pPr>
            <a:r>
              <a:rPr lang="en-US" dirty="0"/>
              <a:t>One a pair of partners have agreed on a scale of interaction in the first phase, they then participate in a prisoner’s dilemma. This has the traditional setup </a:t>
            </a:r>
            <a:r>
              <a:rPr lang="en-US" dirty="0" err="1"/>
              <a:t>fo</a:t>
            </a:r>
            <a:r>
              <a:rPr lang="en-US" dirty="0"/>
              <a:t> positive payoffs for mutual cooperation, negative payoffs for mutual defection, and a payoff of 0 for both if either chooses to exit. </a:t>
            </a:r>
          </a:p>
        </p:txBody>
      </p:sp>
      <p:sp>
        <p:nvSpPr>
          <p:cNvPr id="4" name="Slide Number Placeholder 3"/>
          <p:cNvSpPr>
            <a:spLocks noGrp="1"/>
          </p:cNvSpPr>
          <p:nvPr>
            <p:ph type="sldNum" sz="quarter" idx="5"/>
          </p:nvPr>
        </p:nvSpPr>
        <p:spPr/>
        <p:txBody>
          <a:bodyPr/>
          <a:lstStyle/>
          <a:p>
            <a:fld id="{0CCC9274-A4EC-446F-8649-70FA5AA6E741}" type="slidenum">
              <a:rPr lang="en-US" smtClean="0"/>
              <a:t>5</a:t>
            </a:fld>
            <a:endParaRPr lang="en-US"/>
          </a:p>
        </p:txBody>
      </p:sp>
    </p:spTree>
    <p:extLst>
      <p:ext uri="{BB962C8B-B14F-4D97-AF65-F5344CB8AC3E}">
        <p14:creationId xmlns:p14="http://schemas.microsoft.com/office/powerpoint/2010/main" val="9162527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incentives are such in a Prisoner’s Dilemma experiment that the dominant strategy in a one-shot game is always to defect. Defection results in an extra $1 in current earnings, regardless of whether the other person chooses to cooperate or defect. </a:t>
            </a:r>
          </a:p>
          <a:p>
            <a:endParaRPr lang="en-US" dirty="0"/>
          </a:p>
          <a:p>
            <a:pPr marL="171450" indent="-171450">
              <a:buFontTx/>
              <a:buChar char="-"/>
            </a:pPr>
            <a:r>
              <a:rPr lang="en-US" dirty="0"/>
              <a:t>Cooperation is optimal for the group but suboptimal for the individual</a:t>
            </a:r>
          </a:p>
          <a:p>
            <a:pPr marL="171450" indent="-171450">
              <a:buFontTx/>
              <a:buChar char="-"/>
            </a:pPr>
            <a:r>
              <a:rPr lang="en-US" dirty="0"/>
              <a:t>Theory does not so straightforwardly predict defection in an iterated game in which each round is an isolated playing of the prisoner’s dilemma with each partner</a:t>
            </a:r>
          </a:p>
          <a:p>
            <a:pPr marL="171450" indent="-171450">
              <a:buFontTx/>
              <a:buChar char="-"/>
            </a:pPr>
            <a:r>
              <a:rPr lang="en-US" dirty="0"/>
              <a:t>Defection is even worse when you can meet new people, can defect and then discard a previous relationship in exchange for a new one, as you would be able to in a market setting (conditional on the legality of that defection)</a:t>
            </a:r>
          </a:p>
        </p:txBody>
      </p:sp>
      <p:sp>
        <p:nvSpPr>
          <p:cNvPr id="4" name="Slide Number Placeholder 3"/>
          <p:cNvSpPr>
            <a:spLocks noGrp="1"/>
          </p:cNvSpPr>
          <p:nvPr>
            <p:ph type="sldNum" sz="quarter" idx="5"/>
          </p:nvPr>
        </p:nvSpPr>
        <p:spPr/>
        <p:txBody>
          <a:bodyPr/>
          <a:lstStyle/>
          <a:p>
            <a:fld id="{0CCC9274-A4EC-446F-8649-70FA5AA6E741}" type="slidenum">
              <a:rPr lang="en-US" smtClean="0"/>
              <a:t>6</a:t>
            </a:fld>
            <a:endParaRPr lang="en-US"/>
          </a:p>
        </p:txBody>
      </p:sp>
    </p:spTree>
    <p:extLst>
      <p:ext uri="{BB962C8B-B14F-4D97-AF65-F5344CB8AC3E}">
        <p14:creationId xmlns:p14="http://schemas.microsoft.com/office/powerpoint/2010/main" val="4053305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In an experiment also done on </a:t>
            </a:r>
            <a:r>
              <a:rPr lang="en-US" dirty="0" err="1"/>
              <a:t>Veconlab</a:t>
            </a:r>
            <a:r>
              <a:rPr lang="en-US" dirty="0"/>
              <a:t> software, they find that as you can see above:</a:t>
            </a:r>
          </a:p>
          <a:p>
            <a:pPr marL="628650" lvl="1" indent="-171450">
              <a:buFontTx/>
              <a:buChar char="-"/>
            </a:pPr>
            <a:r>
              <a:rPr lang="en-US" dirty="0"/>
              <a:t>Cooperation rates in an iterated prisoner’s dilemma with partners are much higher than those in single, one-shot games</a:t>
            </a:r>
          </a:p>
          <a:p>
            <a:pPr marL="628650" lvl="1" indent="-171450">
              <a:buFontTx/>
              <a:buChar char="-"/>
            </a:pPr>
            <a:r>
              <a:rPr lang="en-US" dirty="0"/>
              <a:t>Providing participants with opportunities to choose their partners, forming their own profitable relationships, increased cooperation rates even further</a:t>
            </a:r>
          </a:p>
          <a:p>
            <a:pPr marL="171450" lvl="0" indent="-171450">
              <a:buFontTx/>
              <a:buChar char="-"/>
            </a:pPr>
            <a:r>
              <a:rPr lang="en-US" dirty="0"/>
              <a:t>Something important to note here is that we can see in the final round, which is preannounced as the last round, cooperation rates drop drastically. Participants look forward to the future and see that there is no next round relationship they need to maintain. </a:t>
            </a:r>
          </a:p>
          <a:p>
            <a:pPr marL="628650" lvl="1" indent="-171450">
              <a:buFontTx/>
              <a:buChar char="-"/>
            </a:pPr>
            <a:r>
              <a:rPr lang="en-US" dirty="0"/>
              <a:t>Keep this in mind going forward </a:t>
            </a:r>
          </a:p>
          <a:p>
            <a:r>
              <a:rPr lang="en-US" dirty="0"/>
              <a:t>Note that cooperation rates drop in the final round: 9</a:t>
            </a:r>
          </a:p>
        </p:txBody>
      </p:sp>
      <p:sp>
        <p:nvSpPr>
          <p:cNvPr id="4" name="Slide Number Placeholder 3"/>
          <p:cNvSpPr>
            <a:spLocks noGrp="1"/>
          </p:cNvSpPr>
          <p:nvPr>
            <p:ph type="sldNum" sz="quarter" idx="5"/>
          </p:nvPr>
        </p:nvSpPr>
        <p:spPr/>
        <p:txBody>
          <a:bodyPr/>
          <a:lstStyle/>
          <a:p>
            <a:fld id="{0CCC9274-A4EC-446F-8649-70FA5AA6E741}" type="slidenum">
              <a:rPr lang="en-US" smtClean="0"/>
              <a:t>7</a:t>
            </a:fld>
            <a:endParaRPr lang="en-US"/>
          </a:p>
        </p:txBody>
      </p:sp>
    </p:spTree>
    <p:extLst>
      <p:ext uri="{BB962C8B-B14F-4D97-AF65-F5344CB8AC3E}">
        <p14:creationId xmlns:p14="http://schemas.microsoft.com/office/powerpoint/2010/main" val="5380518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67E97EE-4EFE-433B-A1B9-47FBED0FD86F}" type="datetimeFigureOut">
              <a:rPr lang="en-US" smtClean="0"/>
              <a:t>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90D8A2-96E8-4E40-BA79-8FB203151F66}" type="slidenum">
              <a:rPr lang="en-US" smtClean="0"/>
              <a:t>‹#›</a:t>
            </a:fld>
            <a:endParaRPr lang="en-US"/>
          </a:p>
        </p:txBody>
      </p:sp>
    </p:spTree>
    <p:extLst>
      <p:ext uri="{BB962C8B-B14F-4D97-AF65-F5344CB8AC3E}">
        <p14:creationId xmlns:p14="http://schemas.microsoft.com/office/powerpoint/2010/main" val="1241875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7E97EE-4EFE-433B-A1B9-47FBED0FD86F}" type="datetimeFigureOut">
              <a:rPr lang="en-US" smtClean="0"/>
              <a:t>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90D8A2-96E8-4E40-BA79-8FB203151F66}" type="slidenum">
              <a:rPr lang="en-US" smtClean="0"/>
              <a:t>‹#›</a:t>
            </a:fld>
            <a:endParaRPr lang="en-US"/>
          </a:p>
        </p:txBody>
      </p:sp>
    </p:spTree>
    <p:extLst>
      <p:ext uri="{BB962C8B-B14F-4D97-AF65-F5344CB8AC3E}">
        <p14:creationId xmlns:p14="http://schemas.microsoft.com/office/powerpoint/2010/main" val="4157016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7E97EE-4EFE-433B-A1B9-47FBED0FD86F}" type="datetimeFigureOut">
              <a:rPr lang="en-US" smtClean="0"/>
              <a:t>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90D8A2-96E8-4E40-BA79-8FB203151F66}" type="slidenum">
              <a:rPr lang="en-US" smtClean="0"/>
              <a:t>‹#›</a:t>
            </a:fld>
            <a:endParaRPr lang="en-US"/>
          </a:p>
        </p:txBody>
      </p:sp>
    </p:spTree>
    <p:extLst>
      <p:ext uri="{BB962C8B-B14F-4D97-AF65-F5344CB8AC3E}">
        <p14:creationId xmlns:p14="http://schemas.microsoft.com/office/powerpoint/2010/main" val="2212249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67E97EE-4EFE-433B-A1B9-47FBED0FD86F}" type="datetimeFigureOut">
              <a:rPr lang="en-US" smtClean="0"/>
              <a:t>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90D8A2-96E8-4E40-BA79-8FB203151F66}" type="slidenum">
              <a:rPr lang="en-US" smtClean="0"/>
              <a:t>‹#›</a:t>
            </a:fld>
            <a:endParaRPr lang="en-US"/>
          </a:p>
        </p:txBody>
      </p:sp>
    </p:spTree>
    <p:extLst>
      <p:ext uri="{BB962C8B-B14F-4D97-AF65-F5344CB8AC3E}">
        <p14:creationId xmlns:p14="http://schemas.microsoft.com/office/powerpoint/2010/main" val="2436304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7E97EE-4EFE-433B-A1B9-47FBED0FD86F}" type="datetimeFigureOut">
              <a:rPr lang="en-US" smtClean="0"/>
              <a:t>1/9/2023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590D8A2-96E8-4E40-BA79-8FB203151F66}" type="slidenum">
              <a:rPr lang="en-US" smtClean="0"/>
              <a:t>‹#›</a:t>
            </a:fld>
            <a:endParaRPr lang="en-US"/>
          </a:p>
        </p:txBody>
      </p:sp>
    </p:spTree>
    <p:extLst>
      <p:ext uri="{BB962C8B-B14F-4D97-AF65-F5344CB8AC3E}">
        <p14:creationId xmlns:p14="http://schemas.microsoft.com/office/powerpoint/2010/main" val="2528668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67E97EE-4EFE-433B-A1B9-47FBED0FD86F}" type="datetimeFigureOut">
              <a:rPr lang="en-US" smtClean="0"/>
              <a:t>1/9/2023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590D8A2-96E8-4E40-BA79-8FB203151F66}" type="slidenum">
              <a:rPr lang="en-US" smtClean="0"/>
              <a:t>‹#›</a:t>
            </a:fld>
            <a:endParaRPr lang="en-US"/>
          </a:p>
        </p:txBody>
      </p:sp>
    </p:spTree>
    <p:extLst>
      <p:ext uri="{BB962C8B-B14F-4D97-AF65-F5344CB8AC3E}">
        <p14:creationId xmlns:p14="http://schemas.microsoft.com/office/powerpoint/2010/main" val="3514449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7E97EE-4EFE-433B-A1B9-47FBED0FD86F}" type="datetimeFigureOut">
              <a:rPr lang="en-US" smtClean="0"/>
              <a:t>1/9/2023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590D8A2-96E8-4E40-BA79-8FB203151F66}" type="slidenum">
              <a:rPr lang="en-US" smtClean="0"/>
              <a:t>‹#›</a:t>
            </a:fld>
            <a:endParaRPr lang="en-US"/>
          </a:p>
        </p:txBody>
      </p:sp>
    </p:spTree>
    <p:extLst>
      <p:ext uri="{BB962C8B-B14F-4D97-AF65-F5344CB8AC3E}">
        <p14:creationId xmlns:p14="http://schemas.microsoft.com/office/powerpoint/2010/main" val="764094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7E97EE-4EFE-433B-A1B9-47FBED0FD86F}" type="datetimeFigureOut">
              <a:rPr lang="en-US" smtClean="0"/>
              <a:t>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90D8A2-96E8-4E40-BA79-8FB203151F66}" type="slidenum">
              <a:rPr lang="en-US" smtClean="0"/>
              <a:t>‹#›</a:t>
            </a:fld>
            <a:endParaRPr lang="en-US"/>
          </a:p>
        </p:txBody>
      </p:sp>
    </p:spTree>
    <p:extLst>
      <p:ext uri="{BB962C8B-B14F-4D97-AF65-F5344CB8AC3E}">
        <p14:creationId xmlns:p14="http://schemas.microsoft.com/office/powerpoint/2010/main" val="2185809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7E97EE-4EFE-433B-A1B9-47FBED0FD86F}" type="datetimeFigureOut">
              <a:rPr lang="en-US" smtClean="0"/>
              <a:t>1/9/2023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90D8A2-96E8-4E40-BA79-8FB203151F66}" type="slidenum">
              <a:rPr lang="en-US" smtClean="0"/>
              <a:t>‹#›</a:t>
            </a:fld>
            <a:endParaRPr lang="en-US"/>
          </a:p>
        </p:txBody>
      </p:sp>
    </p:spTree>
    <p:extLst>
      <p:ext uri="{BB962C8B-B14F-4D97-AF65-F5344CB8AC3E}">
        <p14:creationId xmlns:p14="http://schemas.microsoft.com/office/powerpoint/2010/main" val="3760550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7E97EE-4EFE-433B-A1B9-47FBED0FD86F}" type="datetimeFigureOut">
              <a:rPr lang="en-US" smtClean="0"/>
              <a:t>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90D8A2-96E8-4E40-BA79-8FB203151F66}" type="slidenum">
              <a:rPr lang="en-US" smtClean="0"/>
              <a:t>‹#›</a:t>
            </a:fld>
            <a:endParaRPr lang="en-US"/>
          </a:p>
        </p:txBody>
      </p:sp>
    </p:spTree>
    <p:extLst>
      <p:ext uri="{BB962C8B-B14F-4D97-AF65-F5344CB8AC3E}">
        <p14:creationId xmlns:p14="http://schemas.microsoft.com/office/powerpoint/2010/main" val="3669472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7E97EE-4EFE-433B-A1B9-47FBED0FD86F}" type="datetimeFigureOut">
              <a:rPr lang="en-US" smtClean="0"/>
              <a:t>1/9/2023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90D8A2-96E8-4E40-BA79-8FB203151F66}" type="slidenum">
              <a:rPr lang="en-US" smtClean="0"/>
              <a:t>‹#›</a:t>
            </a:fld>
            <a:endParaRPr lang="en-US"/>
          </a:p>
        </p:txBody>
      </p:sp>
    </p:spTree>
    <p:extLst>
      <p:ext uri="{BB962C8B-B14F-4D97-AF65-F5344CB8AC3E}">
        <p14:creationId xmlns:p14="http://schemas.microsoft.com/office/powerpoint/2010/main" val="3163784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7E97EE-4EFE-433B-A1B9-47FBED0FD86F}" type="datetimeFigureOut">
              <a:rPr lang="en-US" smtClean="0"/>
              <a:t>1/9/2023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90D8A2-96E8-4E40-BA79-8FB203151F66}" type="slidenum">
              <a:rPr lang="en-US" smtClean="0"/>
              <a:t>‹#›</a:t>
            </a:fld>
            <a:endParaRPr lang="en-US"/>
          </a:p>
        </p:txBody>
      </p:sp>
    </p:spTree>
    <p:extLst>
      <p:ext uri="{BB962C8B-B14F-4D97-AF65-F5344CB8AC3E}">
        <p14:creationId xmlns:p14="http://schemas.microsoft.com/office/powerpoint/2010/main" val="276132939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png"/><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2447E-1E2E-4AF8-8EC4-FDAAA2098B05}"/>
              </a:ext>
            </a:extLst>
          </p:cNvPr>
          <p:cNvSpPr>
            <a:spLocks noGrp="1"/>
          </p:cNvSpPr>
          <p:nvPr>
            <p:ph type="ctrTitle"/>
          </p:nvPr>
        </p:nvSpPr>
        <p:spPr>
          <a:xfrm>
            <a:off x="1524000" y="1477755"/>
            <a:ext cx="9144000" cy="2387600"/>
          </a:xfrm>
        </p:spPr>
        <p:txBody>
          <a:bodyPr/>
          <a:lstStyle/>
          <a:p>
            <a:r>
              <a:rPr lang="en-US" dirty="0"/>
              <a:t>Trust &amp; </a:t>
            </a:r>
            <a:br>
              <a:rPr lang="en-US" dirty="0"/>
            </a:br>
            <a:r>
              <a:rPr lang="en-US" dirty="0"/>
              <a:t>Choice of Partners</a:t>
            </a:r>
          </a:p>
        </p:txBody>
      </p:sp>
      <p:sp>
        <p:nvSpPr>
          <p:cNvPr id="3" name="Subtitle 2">
            <a:extLst>
              <a:ext uri="{FF2B5EF4-FFF2-40B4-BE49-F238E27FC236}">
                <a16:creationId xmlns:a16="http://schemas.microsoft.com/office/drawing/2014/main" id="{032E2045-910C-44F4-A001-5F90A175BB3F}"/>
              </a:ext>
            </a:extLst>
          </p:cNvPr>
          <p:cNvSpPr>
            <a:spLocks noGrp="1"/>
          </p:cNvSpPr>
          <p:nvPr>
            <p:ph type="subTitle" idx="1"/>
          </p:nvPr>
        </p:nvSpPr>
        <p:spPr>
          <a:xfrm>
            <a:off x="1524000" y="3990974"/>
            <a:ext cx="9144000" cy="1266825"/>
          </a:xfrm>
        </p:spPr>
        <p:txBody>
          <a:bodyPr>
            <a:normAutofit fontScale="70000" lnSpcReduction="20000"/>
          </a:bodyPr>
          <a:lstStyle/>
          <a:p>
            <a:r>
              <a:rPr lang="en-US" b="1" dirty="0">
                <a:solidFill>
                  <a:srgbClr val="FF0000"/>
                </a:solidFill>
              </a:rPr>
              <a:t>Charles A. Holt, University of Virginia</a:t>
            </a:r>
          </a:p>
          <a:p>
            <a:r>
              <a:rPr lang="en-US" b="1" dirty="0">
                <a:solidFill>
                  <a:srgbClr val="FF0000"/>
                </a:solidFill>
              </a:rPr>
              <a:t>Erica R. Sprott, Harvard University</a:t>
            </a:r>
          </a:p>
          <a:p>
            <a:endParaRPr lang="en-US" dirty="0"/>
          </a:p>
          <a:p>
            <a:r>
              <a:rPr lang="en-US" dirty="0"/>
              <a:t>January 2023</a:t>
            </a:r>
          </a:p>
        </p:txBody>
      </p:sp>
    </p:spTree>
    <p:extLst>
      <p:ext uri="{BB962C8B-B14F-4D97-AF65-F5344CB8AC3E}">
        <p14:creationId xmlns:p14="http://schemas.microsoft.com/office/powerpoint/2010/main" val="1839054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CB89A-D263-4EBD-9DA8-89A5547156CE}"/>
              </a:ext>
            </a:extLst>
          </p:cNvPr>
          <p:cNvSpPr>
            <a:spLocks noGrp="1"/>
          </p:cNvSpPr>
          <p:nvPr>
            <p:ph type="title"/>
          </p:nvPr>
        </p:nvSpPr>
        <p:spPr/>
        <p:txBody>
          <a:bodyPr/>
          <a:lstStyle/>
          <a:p>
            <a:r>
              <a:rPr lang="en-US" dirty="0"/>
              <a:t>Impersonal Markets and Personal Interactions</a:t>
            </a:r>
          </a:p>
        </p:txBody>
      </p:sp>
      <p:sp>
        <p:nvSpPr>
          <p:cNvPr id="3" name="Content Placeholder 2">
            <a:extLst>
              <a:ext uri="{FF2B5EF4-FFF2-40B4-BE49-F238E27FC236}">
                <a16:creationId xmlns:a16="http://schemas.microsoft.com/office/drawing/2014/main" id="{5E86C6E7-E3CC-43B1-AB6E-2257BD57BC2D}"/>
              </a:ext>
            </a:extLst>
          </p:cNvPr>
          <p:cNvSpPr>
            <a:spLocks noGrp="1"/>
          </p:cNvSpPr>
          <p:nvPr>
            <p:ph idx="1"/>
          </p:nvPr>
        </p:nvSpPr>
        <p:spPr/>
        <p:txBody>
          <a:bodyPr>
            <a:normAutofit/>
          </a:bodyPr>
          <a:lstStyle/>
          <a:p>
            <a:r>
              <a:rPr lang="en-US" dirty="0"/>
              <a:t>Outcomes in market experiments may conform to classical (selfish, rationality-based) predictions of economic theory</a:t>
            </a:r>
          </a:p>
          <a:p>
            <a:pPr lvl="1"/>
            <a:r>
              <a:rPr lang="en-US" dirty="0"/>
              <a:t>Imperfect information blurs fairness comparisons</a:t>
            </a:r>
          </a:p>
          <a:p>
            <a:pPr lvl="1"/>
            <a:r>
              <a:rPr lang="en-US" dirty="0"/>
              <a:t>Competition masks effects of punishments</a:t>
            </a:r>
          </a:p>
          <a:p>
            <a:pPr lvl="1"/>
            <a:r>
              <a:rPr lang="en-US" dirty="0"/>
              <a:t>Endowments are more legitimate in a market setting</a:t>
            </a:r>
          </a:p>
          <a:p>
            <a:r>
              <a:rPr lang="en-US" b="1" dirty="0">
                <a:solidFill>
                  <a:srgbClr val="FF0000"/>
                </a:solidFill>
              </a:rPr>
              <a:t>Competition can promote other-regarding behavior </a:t>
            </a:r>
            <a:r>
              <a:rPr lang="en-US" dirty="0"/>
              <a:t>in personal interactions when people can choose who to deal with and who to avoid</a:t>
            </a:r>
          </a:p>
        </p:txBody>
      </p:sp>
    </p:spTree>
    <p:extLst>
      <p:ext uri="{BB962C8B-B14F-4D97-AF65-F5344CB8AC3E}">
        <p14:creationId xmlns:p14="http://schemas.microsoft.com/office/powerpoint/2010/main" val="313704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CB89A-D263-4EBD-9DA8-89A5547156CE}"/>
              </a:ext>
            </a:extLst>
          </p:cNvPr>
          <p:cNvSpPr>
            <a:spLocks noGrp="1"/>
          </p:cNvSpPr>
          <p:nvPr>
            <p:ph type="title"/>
          </p:nvPr>
        </p:nvSpPr>
        <p:spPr/>
        <p:txBody>
          <a:bodyPr/>
          <a:lstStyle/>
          <a:p>
            <a:r>
              <a:rPr lang="en-US" dirty="0"/>
              <a:t>Impersonal Markets and Personal Interactions</a:t>
            </a:r>
          </a:p>
        </p:txBody>
      </p:sp>
      <p:sp>
        <p:nvSpPr>
          <p:cNvPr id="3" name="Content Placeholder 2">
            <a:extLst>
              <a:ext uri="{FF2B5EF4-FFF2-40B4-BE49-F238E27FC236}">
                <a16:creationId xmlns:a16="http://schemas.microsoft.com/office/drawing/2014/main" id="{5E86C6E7-E3CC-43B1-AB6E-2257BD57BC2D}"/>
              </a:ext>
            </a:extLst>
          </p:cNvPr>
          <p:cNvSpPr>
            <a:spLocks noGrp="1"/>
          </p:cNvSpPr>
          <p:nvPr>
            <p:ph idx="1"/>
          </p:nvPr>
        </p:nvSpPr>
        <p:spPr/>
        <p:txBody>
          <a:bodyPr>
            <a:normAutofit/>
          </a:bodyPr>
          <a:lstStyle/>
          <a:p>
            <a:r>
              <a:rPr lang="en-US" dirty="0"/>
              <a:t>V. Smith and Wilson (2019): Personal Social vs. Impersonal Economic</a:t>
            </a:r>
          </a:p>
          <a:p>
            <a:pPr lvl="1"/>
            <a:r>
              <a:rPr lang="en-US" dirty="0"/>
              <a:t>Adam Smith : Friends &amp; Family vs. Market worlds</a:t>
            </a:r>
          </a:p>
          <a:p>
            <a:pPr lvl="1"/>
            <a:r>
              <a:rPr lang="en-US" dirty="0"/>
              <a:t>Impersonal markets in developed economies provide </a:t>
            </a:r>
            <a:r>
              <a:rPr lang="en-US" b="1" dirty="0">
                <a:solidFill>
                  <a:srgbClr val="FF0000"/>
                </a:solidFill>
              </a:rPr>
              <a:t>exit options </a:t>
            </a:r>
            <a:r>
              <a:rPr lang="en-US" dirty="0"/>
              <a:t>that are not otherwise available or even desirable in personal relationships</a:t>
            </a:r>
          </a:p>
          <a:p>
            <a:r>
              <a:rPr lang="en-US" dirty="0"/>
              <a:t>Even in markets with exit options, competition can lead to behavior that is not purely self-interested</a:t>
            </a:r>
          </a:p>
          <a:p>
            <a:pPr marL="0" indent="0">
              <a:buNone/>
            </a:pPr>
            <a:endParaRPr lang="en-US" dirty="0"/>
          </a:p>
          <a:p>
            <a:r>
              <a:rPr lang="en-US" dirty="0"/>
              <a:t>Conduct series of experiments using </a:t>
            </a:r>
            <a:r>
              <a:rPr lang="en-US" dirty="0" err="1"/>
              <a:t>Veconlab</a:t>
            </a:r>
            <a:r>
              <a:rPr lang="en-US" dirty="0"/>
              <a:t> software illustrating how </a:t>
            </a:r>
            <a:r>
              <a:rPr lang="en-US" b="1" dirty="0">
                <a:solidFill>
                  <a:srgbClr val="FF0000"/>
                </a:solidFill>
              </a:rPr>
              <a:t>competition between potential partners in a Trust Game can foster other-regarding  behavior </a:t>
            </a:r>
          </a:p>
          <a:p>
            <a:endParaRPr lang="en-US" dirty="0"/>
          </a:p>
        </p:txBody>
      </p:sp>
    </p:spTree>
    <p:extLst>
      <p:ext uri="{BB962C8B-B14F-4D97-AF65-F5344CB8AC3E}">
        <p14:creationId xmlns:p14="http://schemas.microsoft.com/office/powerpoint/2010/main" val="430342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81F9A3-9B9D-4884-908D-92BFEE14CB99}"/>
              </a:ext>
            </a:extLst>
          </p:cNvPr>
          <p:cNvSpPr>
            <a:spLocks noGrp="1"/>
          </p:cNvSpPr>
          <p:nvPr>
            <p:ph type="title"/>
          </p:nvPr>
        </p:nvSpPr>
        <p:spPr>
          <a:xfrm>
            <a:off x="686834" y="591344"/>
            <a:ext cx="3200400" cy="5585619"/>
          </a:xfrm>
        </p:spPr>
        <p:txBody>
          <a:bodyPr>
            <a:normAutofit/>
          </a:bodyPr>
          <a:lstStyle/>
          <a:p>
            <a:r>
              <a:rPr lang="en-US" dirty="0">
                <a:solidFill>
                  <a:srgbClr val="FFFFFF"/>
                </a:solidFill>
              </a:rPr>
              <a:t>Preview of Results</a:t>
            </a: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BEC4C74-58B6-416A-A109-5E17F72D1552}"/>
              </a:ext>
            </a:extLst>
          </p:cNvPr>
          <p:cNvSpPr>
            <a:spLocks noGrp="1"/>
          </p:cNvSpPr>
          <p:nvPr>
            <p:ph idx="1"/>
          </p:nvPr>
        </p:nvSpPr>
        <p:spPr>
          <a:xfrm>
            <a:off x="4447308" y="591344"/>
            <a:ext cx="6906491" cy="5585619"/>
          </a:xfrm>
        </p:spPr>
        <p:txBody>
          <a:bodyPr anchor="ctr">
            <a:normAutofit/>
          </a:bodyPr>
          <a:lstStyle/>
          <a:p>
            <a:r>
              <a:rPr lang="en-US" sz="3200" dirty="0"/>
              <a:t>Increased competition </a:t>
            </a:r>
            <a:r>
              <a:rPr lang="en-US" sz="3200" dirty="0">
                <a:sym typeface="Wingdings" panose="05000000000000000000" pitchFamily="2" charset="2"/>
              </a:rPr>
              <a:t></a:t>
            </a:r>
            <a:endParaRPr lang="en-US" sz="3200" dirty="0"/>
          </a:p>
          <a:p>
            <a:pPr lvl="1"/>
            <a:r>
              <a:rPr lang="en-US" sz="2800" b="1" dirty="0">
                <a:solidFill>
                  <a:srgbClr val="FF0000"/>
                </a:solidFill>
              </a:rPr>
              <a:t>Specialization in profitable partnerships</a:t>
            </a:r>
            <a:r>
              <a:rPr lang="en-US" sz="2800" b="1" dirty="0">
                <a:solidFill>
                  <a:srgbClr val="FF0000"/>
                </a:solidFill>
                <a:sym typeface="Wingdings" panose="05000000000000000000" pitchFamily="2" charset="2"/>
              </a:rPr>
              <a:t> </a:t>
            </a:r>
          </a:p>
          <a:p>
            <a:pPr lvl="2"/>
            <a:r>
              <a:rPr lang="en-US" sz="2400" dirty="0">
                <a:sym typeface="Wingdings" panose="05000000000000000000" pitchFamily="2" charset="2"/>
              </a:rPr>
              <a:t>Passing to one partner with high trust levels</a:t>
            </a:r>
          </a:p>
          <a:p>
            <a:pPr lvl="2"/>
            <a:r>
              <a:rPr lang="en-US" sz="2400" dirty="0">
                <a:sym typeface="Wingdings" panose="05000000000000000000" pitchFamily="2" charset="2"/>
              </a:rPr>
              <a:t>Cutting off less profitable links over time</a:t>
            </a:r>
          </a:p>
          <a:p>
            <a:pPr lvl="1"/>
            <a:r>
              <a:rPr lang="en-US" sz="2800" b="1" dirty="0">
                <a:solidFill>
                  <a:srgbClr val="FF0000"/>
                </a:solidFill>
                <a:sym typeface="Wingdings" panose="05000000000000000000" pitchFamily="2" charset="2"/>
              </a:rPr>
              <a:t>Higher levels of trust overall</a:t>
            </a:r>
            <a:endParaRPr lang="en-US" sz="2800" dirty="0"/>
          </a:p>
          <a:p>
            <a:pPr marL="0" indent="0">
              <a:buNone/>
            </a:pPr>
            <a:endParaRPr lang="en-US" dirty="0">
              <a:sym typeface="Wingdings" panose="05000000000000000000" pitchFamily="2" charset="2"/>
            </a:endParaRPr>
          </a:p>
        </p:txBody>
      </p:sp>
    </p:spTree>
    <p:extLst>
      <p:ext uri="{BB962C8B-B14F-4D97-AF65-F5344CB8AC3E}">
        <p14:creationId xmlns:p14="http://schemas.microsoft.com/office/powerpoint/2010/main" val="555844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38200" y="365125"/>
            <a:ext cx="10638034" cy="1325563"/>
          </a:xfrm>
        </p:spPr>
        <p:txBody>
          <a:bodyPr>
            <a:normAutofit/>
          </a:bodyPr>
          <a:lstStyle/>
          <a:p>
            <a:r>
              <a:rPr lang="en-US" sz="4000" b="1" dirty="0">
                <a:solidFill>
                  <a:srgbClr val="FF0000"/>
                </a:solidFill>
              </a:rPr>
              <a:t>Prior Work:</a:t>
            </a:r>
            <a:r>
              <a:rPr lang="en-US" sz="4000" dirty="0">
                <a:solidFill>
                  <a:srgbClr val="FF0000"/>
                </a:solidFill>
              </a:rPr>
              <a:t> </a:t>
            </a:r>
            <a:r>
              <a:rPr lang="en-US" sz="4000" dirty="0"/>
              <a:t>Holt, Johnson, and </a:t>
            </a:r>
            <a:r>
              <a:rPr lang="en-US" sz="4000" dirty="0" err="1"/>
              <a:t>Schmidtz</a:t>
            </a:r>
            <a:r>
              <a:rPr lang="en-US" sz="4000" dirty="0"/>
              <a:t> (2016) on Adam Smith</a:t>
            </a:r>
          </a:p>
        </p:txBody>
      </p:sp>
      <p:sp>
        <p:nvSpPr>
          <p:cNvPr id="3" name="Content Placeholder 2"/>
          <p:cNvSpPr>
            <a:spLocks noGrp="1"/>
          </p:cNvSpPr>
          <p:nvPr>
            <p:ph idx="1"/>
          </p:nvPr>
        </p:nvSpPr>
        <p:spPr>
          <a:xfrm>
            <a:off x="838200" y="1755776"/>
            <a:ext cx="11130022" cy="4616555"/>
          </a:xfrm>
        </p:spPr>
        <p:txBody>
          <a:bodyPr>
            <a:normAutofit/>
          </a:bodyPr>
          <a:lstStyle/>
          <a:p>
            <a:r>
              <a:rPr lang="en-US" b="1" dirty="0">
                <a:solidFill>
                  <a:srgbClr val="FF0000"/>
                </a:solidFill>
              </a:rPr>
              <a:t>Scale Intensity and Trust</a:t>
            </a:r>
            <a:r>
              <a:rPr lang="en-US" b="1" dirty="0"/>
              <a:t>:</a:t>
            </a:r>
            <a:r>
              <a:rPr lang="en-US" dirty="0"/>
              <a:t> People create their own networks of trusting relationships and scale them if they work and exit otherwise. </a:t>
            </a:r>
          </a:p>
          <a:p>
            <a:r>
              <a:rPr lang="en-US" b="1" dirty="0">
                <a:solidFill>
                  <a:srgbClr val="FF0000"/>
                </a:solidFill>
              </a:rPr>
              <a:t>Choice of Partners Prisoner’s Dilemma Game</a:t>
            </a:r>
            <a:r>
              <a:rPr lang="en-US" b="1" dirty="0"/>
              <a:t>: </a:t>
            </a:r>
            <a:r>
              <a:rPr lang="en-US" dirty="0"/>
              <a:t>With positive payoffs for cooperation outcomes, negative payoffs for mutual defection and a 0 payoff for both if either chooses to exit</a:t>
            </a:r>
          </a:p>
          <a:p>
            <a:r>
              <a:rPr lang="en-US" b="1" dirty="0">
                <a:solidFill>
                  <a:srgbClr val="FF0000"/>
                </a:solidFill>
              </a:rPr>
              <a:t>Mutual Consent on Scale of Interactions</a:t>
            </a:r>
            <a:r>
              <a:rPr lang="en-US" dirty="0">
                <a:solidFill>
                  <a:srgbClr val="FF0000"/>
                </a:solidFill>
              </a:rPr>
              <a:t>:</a:t>
            </a:r>
            <a:r>
              <a:rPr lang="en-US" dirty="0"/>
              <a:t> Experiment in which each person selects a proposed payoff scale (0x for exit, 1x, 2x, 3x), and the minimum of the proposed scales is implemented for the simultaneous move prisoner’s dilemma  </a:t>
            </a:r>
          </a:p>
          <a:p>
            <a:pPr marL="0" indent="0">
              <a:buNone/>
            </a:pPr>
            <a:endParaRPr lang="en-US" sz="3200" dirty="0"/>
          </a:p>
          <a:p>
            <a:pPr marL="0" indent="0">
              <a:buNone/>
            </a:pPr>
            <a:endParaRPr lang="en-US" sz="3200" dirty="0"/>
          </a:p>
          <a:p>
            <a:pPr marL="0" indent="0">
              <a:buNone/>
            </a:pPr>
            <a:endParaRPr lang="en-US" sz="3200" dirty="0"/>
          </a:p>
          <a:p>
            <a:pPr marL="0" indent="0">
              <a:buNone/>
            </a:pPr>
            <a:endParaRPr lang="en-US" dirty="0"/>
          </a:p>
        </p:txBody>
      </p:sp>
    </p:spTree>
    <p:extLst>
      <p:ext uri="{BB962C8B-B14F-4D97-AF65-F5344CB8AC3E}">
        <p14:creationId xmlns:p14="http://schemas.microsoft.com/office/powerpoint/2010/main" val="3300634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algn="l" eaLnBrk="1" hangingPunct="1"/>
            <a:r>
              <a:rPr kumimoji="0" lang="en-US" sz="4400" i="0" u="none" strike="noStrike" kern="1200" cap="none" spc="0" normalizeH="0" baseline="0" noProof="0">
                <a:ln>
                  <a:noFill/>
                </a:ln>
                <a:solidFill>
                  <a:prstClr val="black"/>
                </a:solidFill>
                <a:effectLst/>
                <a:uLnTx/>
                <a:uFillTx/>
                <a:latin typeface="Calibri Light" panose="020F0302020204030204"/>
                <a:ea typeface="+mj-ea"/>
                <a:cs typeface="+mj-cs"/>
              </a:rPr>
              <a:t>Prisoner’s Dilemma Incentives</a:t>
            </a:r>
            <a:endParaRPr lang="en-US" altLang="en-US" sz="2800" dirty="0">
              <a:solidFill>
                <a:schemeClr val="accent2"/>
              </a:solidFill>
              <a:latin typeface="Calibri Light" panose="020F0302020204030204" pitchFamily="34" charset="0"/>
              <a:cs typeface="Calibri Light" panose="020F0302020204030204" pitchFamily="34" charset="0"/>
            </a:endParaRPr>
          </a:p>
        </p:txBody>
      </p:sp>
      <p:graphicFrame>
        <p:nvGraphicFramePr>
          <p:cNvPr id="21511" name="Rectangle 3">
            <a:extLst>
              <a:ext uri="{FF2B5EF4-FFF2-40B4-BE49-F238E27FC236}">
                <a16:creationId xmlns:a16="http://schemas.microsoft.com/office/drawing/2014/main" id="{E08A0D24-28D3-734C-C326-06E5C2DCA659}"/>
              </a:ext>
            </a:extLst>
          </p:cNvPr>
          <p:cNvGraphicFramePr/>
          <p:nvPr>
            <p:extLst>
              <p:ext uri="{D42A27DB-BD31-4B8C-83A1-F6EECF244321}">
                <p14:modId xmlns:p14="http://schemas.microsoft.com/office/powerpoint/2010/main" val="3108252128"/>
              </p:ext>
            </p:extLst>
          </p:nvPr>
        </p:nvGraphicFramePr>
        <p:xfrm>
          <a:off x="838200" y="1612847"/>
          <a:ext cx="10021584" cy="4120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55689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841443EC-7209-0D31-1189-A6F3A1456C27}"/>
              </a:ext>
            </a:extLst>
          </p:cNvPr>
          <p:cNvSpPr>
            <a:spLocks noGrp="1" noChangeArrowheads="1"/>
          </p:cNvSpPr>
          <p:nvPr>
            <p:ph type="title"/>
          </p:nvPr>
        </p:nvSpPr>
        <p:spPr>
          <a:xfrm>
            <a:off x="407776" y="164387"/>
            <a:ext cx="11304763" cy="863029"/>
          </a:xfrm>
        </p:spPr>
        <p:txBody>
          <a:bodyPr>
            <a:normAutofit/>
          </a:bodyPr>
          <a:lstStyle/>
          <a:p>
            <a:pPr algn="ctr" eaLnBrk="1" hangingPunct="1"/>
            <a:r>
              <a:rPr lang="en-US" altLang="en-US" sz="3600" dirty="0"/>
              <a:t>Sustained High Cooperation in a Prisoner’s Dilemma</a:t>
            </a:r>
            <a:br>
              <a:rPr lang="en-US" altLang="en-US" sz="3600" dirty="0"/>
            </a:br>
            <a:r>
              <a:rPr lang="en-US" altLang="en-US" sz="1800" dirty="0"/>
              <a:t>(Holt, Johnson, and </a:t>
            </a:r>
            <a:r>
              <a:rPr lang="en-US" altLang="en-US" sz="1800" dirty="0" err="1"/>
              <a:t>Schmidtz</a:t>
            </a:r>
            <a:r>
              <a:rPr lang="en-US" altLang="en-US" sz="1800" dirty="0"/>
              <a:t>, 2016)</a:t>
            </a:r>
            <a:endParaRPr lang="en-US" altLang="en-US" sz="2400" dirty="0"/>
          </a:p>
        </p:txBody>
      </p:sp>
      <p:graphicFrame>
        <p:nvGraphicFramePr>
          <p:cNvPr id="22531" name="Chart 3">
            <a:extLst>
              <a:ext uri="{FF2B5EF4-FFF2-40B4-BE49-F238E27FC236}">
                <a16:creationId xmlns:a16="http://schemas.microsoft.com/office/drawing/2014/main" id="{D11E79CD-8300-5E75-0D3A-CC6C8EB26E85}"/>
              </a:ext>
            </a:extLst>
          </p:cNvPr>
          <p:cNvGraphicFramePr>
            <a:graphicFrameLocks/>
          </p:cNvGraphicFramePr>
          <p:nvPr>
            <p:extLst>
              <p:ext uri="{D42A27DB-BD31-4B8C-83A1-F6EECF244321}">
                <p14:modId xmlns:p14="http://schemas.microsoft.com/office/powerpoint/2010/main" val="2453797291"/>
              </p:ext>
            </p:extLst>
          </p:nvPr>
        </p:nvGraphicFramePr>
        <p:xfrm>
          <a:off x="1549400" y="893280"/>
          <a:ext cx="9093200" cy="5892800"/>
        </p:xfrm>
        <a:graphic>
          <a:graphicData uri="http://schemas.openxmlformats.org/presentationml/2006/ole">
            <mc:AlternateContent xmlns:mc="http://schemas.openxmlformats.org/markup-compatibility/2006">
              <mc:Choice xmlns:v="urn:schemas-microsoft-com:vml" Requires="v">
                <p:oleObj spid="_x0000_s1096" name="Chart" r:id="rId4" imgW="9096020" imgH="5895343" progId="Excel.Chart.8">
                  <p:embed/>
                </p:oleObj>
              </mc:Choice>
              <mc:Fallback>
                <p:oleObj name="Chart" r:id="rId4" imgW="9096020" imgH="5895343" progId="Excel.Chart.8">
                  <p:embed/>
                  <p:pic>
                    <p:nvPicPr>
                      <p:cNvPr id="22531" name="Chart 3">
                        <a:extLst>
                          <a:ext uri="{FF2B5EF4-FFF2-40B4-BE49-F238E27FC236}">
                            <a16:creationId xmlns:a16="http://schemas.microsoft.com/office/drawing/2014/main" id="{D11E79CD-8300-5E75-0D3A-CC6C8EB26E85}"/>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9400" y="893280"/>
                        <a:ext cx="9093200" cy="589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38200" y="410290"/>
            <a:ext cx="10515600" cy="835630"/>
          </a:xfrm>
        </p:spPr>
        <p:txBody>
          <a:bodyPr>
            <a:normAutofit/>
          </a:bodyPr>
          <a:lstStyle/>
          <a:p>
            <a:r>
              <a:rPr lang="en-US" sz="4000" dirty="0"/>
              <a:t> Trust Beyond the Prisoner’s Dilemma</a:t>
            </a:r>
          </a:p>
        </p:txBody>
      </p:sp>
      <p:sp>
        <p:nvSpPr>
          <p:cNvPr id="3" name="Content Placeholder 2"/>
          <p:cNvSpPr>
            <a:spLocks noGrp="1"/>
          </p:cNvSpPr>
          <p:nvPr>
            <p:ph idx="1"/>
          </p:nvPr>
        </p:nvSpPr>
        <p:spPr>
          <a:xfrm>
            <a:off x="1130401" y="1513862"/>
            <a:ext cx="10515600" cy="4882477"/>
          </a:xfrm>
        </p:spPr>
        <p:txBody>
          <a:bodyPr>
            <a:normAutofit/>
          </a:bodyPr>
          <a:lstStyle/>
          <a:p>
            <a:r>
              <a:rPr lang="en-US" sz="2800" dirty="0"/>
              <a:t>Trust is typically measured in field experiments with a </a:t>
            </a:r>
            <a:r>
              <a:rPr lang="en-US" sz="2800" b="1" dirty="0">
                <a:solidFill>
                  <a:srgbClr val="FF0000"/>
                </a:solidFill>
              </a:rPr>
              <a:t>Trust Game </a:t>
            </a:r>
            <a:r>
              <a:rPr lang="en-US" sz="2800" dirty="0"/>
              <a:t>instead of a prisoner’s dilemma.</a:t>
            </a:r>
          </a:p>
          <a:p>
            <a:r>
              <a:rPr lang="en-US" sz="2800" dirty="0"/>
              <a:t>Game involves </a:t>
            </a:r>
            <a:r>
              <a:rPr lang="en-US" sz="2800" b="1" dirty="0">
                <a:solidFill>
                  <a:srgbClr val="FF0000"/>
                </a:solidFill>
              </a:rPr>
              <a:t>passing amounts of money back and forth</a:t>
            </a:r>
            <a:r>
              <a:rPr lang="en-US" sz="2800" dirty="0"/>
              <a:t>, in a manner that is analogous to providing money to an entrepreneur, who then shares part of the resulting profits with the original investor.</a:t>
            </a:r>
          </a:p>
          <a:p>
            <a:r>
              <a:rPr lang="en-US" dirty="0"/>
              <a:t>Scale is naturally determined in a trust game by the first mover’s pass amount</a:t>
            </a:r>
            <a:endParaRPr lang="en-US" sz="2800" dirty="0"/>
          </a:p>
          <a:p>
            <a:r>
              <a:rPr lang="en-US" sz="2800" dirty="0"/>
              <a:t>Measures of “trust” and “trust worthiness” are correlated with pro-social economic behaviors, or even with overall measures of economic development.</a:t>
            </a:r>
          </a:p>
        </p:txBody>
      </p:sp>
    </p:spTree>
    <p:extLst>
      <p:ext uri="{BB962C8B-B14F-4D97-AF65-F5344CB8AC3E}">
        <p14:creationId xmlns:p14="http://schemas.microsoft.com/office/powerpoint/2010/main" val="3255841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C437F-AA3E-433E-AB14-AD2D02B8DD47}"/>
              </a:ext>
            </a:extLst>
          </p:cNvPr>
          <p:cNvSpPr>
            <a:spLocks noGrp="1"/>
          </p:cNvSpPr>
          <p:nvPr>
            <p:ph type="title"/>
          </p:nvPr>
        </p:nvSpPr>
        <p:spPr/>
        <p:txBody>
          <a:bodyPr>
            <a:normAutofit/>
          </a:bodyPr>
          <a:lstStyle/>
          <a:p>
            <a:r>
              <a:rPr lang="en-US" sz="4000" dirty="0"/>
              <a:t>Combination of Two Games</a:t>
            </a:r>
          </a:p>
        </p:txBody>
      </p:sp>
      <p:sp>
        <p:nvSpPr>
          <p:cNvPr id="3" name="Content Placeholder 2">
            <a:extLst>
              <a:ext uri="{FF2B5EF4-FFF2-40B4-BE49-F238E27FC236}">
                <a16:creationId xmlns:a16="http://schemas.microsoft.com/office/drawing/2014/main" id="{27A84B9F-CA1D-47B8-A08C-6404AAC4CB2F}"/>
              </a:ext>
            </a:extLst>
          </p:cNvPr>
          <p:cNvSpPr>
            <a:spLocks noGrp="1"/>
          </p:cNvSpPr>
          <p:nvPr>
            <p:ph idx="1"/>
          </p:nvPr>
        </p:nvSpPr>
        <p:spPr>
          <a:xfrm>
            <a:off x="838200" y="1609867"/>
            <a:ext cx="10515600" cy="4564901"/>
          </a:xfrm>
        </p:spPr>
        <p:txBody>
          <a:bodyPr>
            <a:normAutofit/>
          </a:bodyPr>
          <a:lstStyle/>
          <a:p>
            <a:r>
              <a:rPr lang="en-US" b="1" dirty="0">
                <a:solidFill>
                  <a:srgbClr val="FF0000"/>
                </a:solidFill>
              </a:rPr>
              <a:t>Choice of Partners Game + Trust Game</a:t>
            </a:r>
          </a:p>
          <a:p>
            <a:pPr lvl="1"/>
            <a:r>
              <a:rPr lang="en-US" dirty="0"/>
              <a:t>Increase </a:t>
            </a:r>
            <a:r>
              <a:rPr lang="en-US" b="1" dirty="0">
                <a:solidFill>
                  <a:srgbClr val="FF0000"/>
                </a:solidFill>
              </a:rPr>
              <a:t>competition among potential partners </a:t>
            </a:r>
            <a:r>
              <a:rPr lang="en-US" dirty="0"/>
              <a:t>in the Choice of Partners game with Trust Game pass/return mechanism</a:t>
            </a:r>
          </a:p>
          <a:p>
            <a:r>
              <a:rPr lang="en-US" dirty="0"/>
              <a:t>Each round: </a:t>
            </a:r>
          </a:p>
          <a:p>
            <a:pPr lvl="1"/>
            <a:r>
              <a:rPr lang="en-US" dirty="0"/>
              <a:t>Participants are exposed to a new potential partner and decide whether to link</a:t>
            </a:r>
          </a:p>
          <a:p>
            <a:pPr lvl="1"/>
            <a:r>
              <a:rPr lang="en-US" dirty="0"/>
              <a:t>First movers choose amount to </a:t>
            </a:r>
            <a:r>
              <a:rPr lang="en-US" b="1" dirty="0">
                <a:solidFill>
                  <a:srgbClr val="FF0000"/>
                </a:solidFill>
              </a:rPr>
              <a:t>pass</a:t>
            </a:r>
            <a:r>
              <a:rPr lang="en-US" dirty="0"/>
              <a:t>, which is </a:t>
            </a:r>
            <a:r>
              <a:rPr lang="en-US" b="1" dirty="0">
                <a:solidFill>
                  <a:srgbClr val="FF0000"/>
                </a:solidFill>
              </a:rPr>
              <a:t>tripled</a:t>
            </a:r>
          </a:p>
          <a:p>
            <a:pPr lvl="1"/>
            <a:r>
              <a:rPr lang="en-US" dirty="0"/>
              <a:t>Second movers choose amount to </a:t>
            </a:r>
            <a:r>
              <a:rPr lang="en-US" b="1" dirty="0">
                <a:solidFill>
                  <a:srgbClr val="FF0000"/>
                </a:solidFill>
              </a:rPr>
              <a:t>return</a:t>
            </a:r>
            <a:endParaRPr lang="en-US" dirty="0"/>
          </a:p>
          <a:p>
            <a:pPr lvl="2"/>
            <a:endParaRPr lang="en-US" dirty="0"/>
          </a:p>
          <a:p>
            <a:pPr marL="914400" lvl="1" indent="-457200">
              <a:buFont typeface="+mj-lt"/>
              <a:buAutoNum type="arabicPeriod"/>
            </a:pPr>
            <a:endParaRPr lang="en-US" dirty="0"/>
          </a:p>
          <a:p>
            <a:pPr marL="0" indent="0">
              <a:buNone/>
            </a:pPr>
            <a:endParaRPr lang="en-US" dirty="0"/>
          </a:p>
        </p:txBody>
      </p:sp>
    </p:spTree>
    <p:extLst>
      <p:ext uri="{BB962C8B-B14F-4D97-AF65-F5344CB8AC3E}">
        <p14:creationId xmlns:p14="http://schemas.microsoft.com/office/powerpoint/2010/main" val="3649745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C437F-AA3E-433E-AB14-AD2D02B8DD47}"/>
              </a:ext>
            </a:extLst>
          </p:cNvPr>
          <p:cNvSpPr>
            <a:spLocks noGrp="1"/>
          </p:cNvSpPr>
          <p:nvPr>
            <p:ph type="title"/>
          </p:nvPr>
        </p:nvSpPr>
        <p:spPr>
          <a:xfrm>
            <a:off x="838200" y="284304"/>
            <a:ext cx="10515600" cy="1325563"/>
          </a:xfrm>
        </p:spPr>
        <p:txBody>
          <a:bodyPr>
            <a:normAutofit/>
          </a:bodyPr>
          <a:lstStyle/>
          <a:p>
            <a:r>
              <a:rPr lang="en-US" sz="4000" dirty="0"/>
              <a:t>Combination of Two Games</a:t>
            </a:r>
          </a:p>
        </p:txBody>
      </p:sp>
      <p:sp>
        <p:nvSpPr>
          <p:cNvPr id="3" name="Content Placeholder 2">
            <a:extLst>
              <a:ext uri="{FF2B5EF4-FFF2-40B4-BE49-F238E27FC236}">
                <a16:creationId xmlns:a16="http://schemas.microsoft.com/office/drawing/2014/main" id="{27A84B9F-CA1D-47B8-A08C-6404AAC4CB2F}"/>
              </a:ext>
            </a:extLst>
          </p:cNvPr>
          <p:cNvSpPr>
            <a:spLocks noGrp="1"/>
          </p:cNvSpPr>
          <p:nvPr>
            <p:ph idx="1"/>
          </p:nvPr>
        </p:nvSpPr>
        <p:spPr>
          <a:xfrm>
            <a:off x="838200" y="1609867"/>
            <a:ext cx="10515600" cy="4564901"/>
          </a:xfrm>
        </p:spPr>
        <p:txBody>
          <a:bodyPr>
            <a:normAutofit/>
          </a:bodyPr>
          <a:lstStyle/>
          <a:p>
            <a:r>
              <a:rPr lang="en-US" b="1" dirty="0">
                <a:solidFill>
                  <a:srgbClr val="FF0000"/>
                </a:solidFill>
              </a:rPr>
              <a:t>$3 endowments</a:t>
            </a:r>
            <a:r>
              <a:rPr lang="en-US" dirty="0"/>
              <a:t>—amount </a:t>
            </a:r>
            <a:r>
              <a:rPr lang="en-US" b="1" dirty="0">
                <a:solidFill>
                  <a:srgbClr val="FF0000"/>
                </a:solidFill>
              </a:rPr>
              <a:t>available to pass increases </a:t>
            </a:r>
            <a:r>
              <a:rPr lang="en-US" dirty="0"/>
              <a:t>as number of potential active links increases ($3 per potential link)</a:t>
            </a:r>
          </a:p>
          <a:p>
            <a:r>
              <a:rPr lang="en-US" dirty="0"/>
              <a:t>At most 3 links can be active – participants must </a:t>
            </a:r>
            <a:r>
              <a:rPr lang="en-US" b="1" dirty="0">
                <a:solidFill>
                  <a:srgbClr val="FF0000"/>
                </a:solidFill>
              </a:rPr>
              <a:t>choose with whom to deal </a:t>
            </a:r>
          </a:p>
          <a:p>
            <a:r>
              <a:rPr lang="en-US" dirty="0"/>
              <a:t>Both movers </a:t>
            </a:r>
            <a:r>
              <a:rPr lang="en-US" b="1" dirty="0">
                <a:solidFill>
                  <a:srgbClr val="FF0000"/>
                </a:solidFill>
              </a:rPr>
              <a:t>must agree to activate a link </a:t>
            </a:r>
            <a:r>
              <a:rPr lang="en-US" dirty="0"/>
              <a:t>at a cost of $1 each</a:t>
            </a:r>
          </a:p>
          <a:p>
            <a:pPr lvl="2"/>
            <a:endParaRPr lang="en-US" dirty="0"/>
          </a:p>
          <a:p>
            <a:pPr marL="914400" lvl="1" indent="-457200">
              <a:buFont typeface="+mj-lt"/>
              <a:buAutoNum type="arabicPeriod"/>
            </a:pPr>
            <a:endParaRPr lang="en-US" dirty="0"/>
          </a:p>
          <a:p>
            <a:pPr marL="0" indent="0">
              <a:buNone/>
            </a:pPr>
            <a:endParaRPr lang="en-US" dirty="0"/>
          </a:p>
        </p:txBody>
      </p:sp>
    </p:spTree>
    <p:extLst>
      <p:ext uri="{BB962C8B-B14F-4D97-AF65-F5344CB8AC3E}">
        <p14:creationId xmlns:p14="http://schemas.microsoft.com/office/powerpoint/2010/main" val="1764484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C437F-AA3E-433E-AB14-AD2D02B8DD47}"/>
              </a:ext>
            </a:extLst>
          </p:cNvPr>
          <p:cNvSpPr>
            <a:spLocks noGrp="1"/>
          </p:cNvSpPr>
          <p:nvPr>
            <p:ph type="title"/>
          </p:nvPr>
        </p:nvSpPr>
        <p:spPr/>
        <p:txBody>
          <a:bodyPr>
            <a:normAutofit/>
          </a:bodyPr>
          <a:lstStyle/>
          <a:p>
            <a:r>
              <a:rPr lang="en-US" sz="4000" dirty="0"/>
              <a:t>Combination of Two Games</a:t>
            </a:r>
          </a:p>
        </p:txBody>
      </p:sp>
      <p:sp>
        <p:nvSpPr>
          <p:cNvPr id="3" name="Content Placeholder 2">
            <a:extLst>
              <a:ext uri="{FF2B5EF4-FFF2-40B4-BE49-F238E27FC236}">
                <a16:creationId xmlns:a16="http://schemas.microsoft.com/office/drawing/2014/main" id="{27A84B9F-CA1D-47B8-A08C-6404AAC4CB2F}"/>
              </a:ext>
            </a:extLst>
          </p:cNvPr>
          <p:cNvSpPr>
            <a:spLocks noGrp="1"/>
          </p:cNvSpPr>
          <p:nvPr>
            <p:ph idx="1"/>
          </p:nvPr>
        </p:nvSpPr>
        <p:spPr>
          <a:xfrm>
            <a:off x="838200" y="1609867"/>
            <a:ext cx="10515600" cy="4564901"/>
          </a:xfrm>
        </p:spPr>
        <p:txBody>
          <a:bodyPr>
            <a:normAutofit/>
          </a:bodyPr>
          <a:lstStyle/>
          <a:p>
            <a:r>
              <a:rPr lang="en-US" dirty="0"/>
              <a:t>Treatments designed to </a:t>
            </a:r>
            <a:r>
              <a:rPr lang="en-US" b="1" dirty="0">
                <a:solidFill>
                  <a:srgbClr val="FF0000"/>
                </a:solidFill>
              </a:rPr>
              <a:t>vary strength of competition between potential links</a:t>
            </a:r>
          </a:p>
          <a:p>
            <a:pPr marL="914400" lvl="1" indent="-457200">
              <a:buFont typeface="+mj-lt"/>
              <a:buAutoNum type="arabicPeriod"/>
            </a:pPr>
            <a:r>
              <a:rPr lang="en-US" dirty="0"/>
              <a:t>No cross pass: Maximum of $3 pass to any partner</a:t>
            </a:r>
          </a:p>
          <a:p>
            <a:pPr marL="914400" lvl="1" indent="-457200">
              <a:buFont typeface="+mj-lt"/>
              <a:buAutoNum type="arabicPeriod"/>
            </a:pPr>
            <a:r>
              <a:rPr lang="en-US" dirty="0"/>
              <a:t>Cross pass: $ from potential links can be passed in any amount to any partner</a:t>
            </a:r>
          </a:p>
          <a:p>
            <a:r>
              <a:rPr lang="en-US" dirty="0"/>
              <a:t>Preannounced number of rounds </a:t>
            </a:r>
          </a:p>
          <a:p>
            <a:r>
              <a:rPr lang="en-US" dirty="0"/>
              <a:t>Preliminary experimental data</a:t>
            </a:r>
          </a:p>
          <a:p>
            <a:pPr lvl="1"/>
            <a:r>
              <a:rPr lang="en-US" dirty="0"/>
              <a:t>3 sessions of each treatment</a:t>
            </a:r>
          </a:p>
          <a:p>
            <a:pPr lvl="1"/>
            <a:r>
              <a:rPr lang="en-US" dirty="0"/>
              <a:t>Number of independent observations is limited for statistical testing</a:t>
            </a:r>
          </a:p>
          <a:p>
            <a:pPr lvl="2"/>
            <a:endParaRPr lang="en-US" dirty="0"/>
          </a:p>
          <a:p>
            <a:pPr marL="914400" lvl="1" indent="-457200">
              <a:buFont typeface="+mj-lt"/>
              <a:buAutoNum type="arabicPeriod"/>
            </a:pPr>
            <a:endParaRPr lang="en-US" dirty="0"/>
          </a:p>
          <a:p>
            <a:pPr marL="0" indent="0">
              <a:buNone/>
            </a:pPr>
            <a:endParaRPr lang="en-US" dirty="0"/>
          </a:p>
        </p:txBody>
      </p:sp>
    </p:spTree>
    <p:extLst>
      <p:ext uri="{BB962C8B-B14F-4D97-AF65-F5344CB8AC3E}">
        <p14:creationId xmlns:p14="http://schemas.microsoft.com/office/powerpoint/2010/main" val="997060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7F6E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C042FFF-C9C1-4F5F-939D-1919CD6221FC}"/>
              </a:ext>
            </a:extLst>
          </p:cNvPr>
          <p:cNvPicPr>
            <a:picLocks noChangeAspect="1"/>
          </p:cNvPicPr>
          <p:nvPr/>
        </p:nvPicPr>
        <p:blipFill>
          <a:blip r:embed="rId2"/>
          <a:stretch>
            <a:fillRect/>
          </a:stretch>
        </p:blipFill>
        <p:spPr>
          <a:xfrm>
            <a:off x="643467" y="1179831"/>
            <a:ext cx="10905066" cy="4498338"/>
          </a:xfrm>
          <a:prstGeom prst="rect">
            <a:avLst/>
          </a:prstGeom>
        </p:spPr>
      </p:pic>
    </p:spTree>
    <p:extLst>
      <p:ext uri="{BB962C8B-B14F-4D97-AF65-F5344CB8AC3E}">
        <p14:creationId xmlns:p14="http://schemas.microsoft.com/office/powerpoint/2010/main" val="759206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7C6B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D18F5AC-AA61-440E-BAF7-8155F74F13EF}"/>
              </a:ext>
            </a:extLst>
          </p:cNvPr>
          <p:cNvPicPr>
            <a:picLocks noChangeAspect="1"/>
          </p:cNvPicPr>
          <p:nvPr/>
        </p:nvPicPr>
        <p:blipFill>
          <a:blip r:embed="rId2"/>
          <a:stretch>
            <a:fillRect/>
          </a:stretch>
        </p:blipFill>
        <p:spPr>
          <a:xfrm>
            <a:off x="643467" y="839046"/>
            <a:ext cx="10905066" cy="5179907"/>
          </a:xfrm>
          <a:prstGeom prst="rect">
            <a:avLst/>
          </a:prstGeom>
        </p:spPr>
      </p:pic>
    </p:spTree>
    <p:extLst>
      <p:ext uri="{BB962C8B-B14F-4D97-AF65-F5344CB8AC3E}">
        <p14:creationId xmlns:p14="http://schemas.microsoft.com/office/powerpoint/2010/main" val="2097949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7C6B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281ECD3-07A6-4911-BFF8-2A4B0808E9C8}"/>
              </a:ext>
            </a:extLst>
          </p:cNvPr>
          <p:cNvPicPr>
            <a:picLocks noChangeAspect="1"/>
          </p:cNvPicPr>
          <p:nvPr/>
        </p:nvPicPr>
        <p:blipFill>
          <a:blip r:embed="rId2"/>
          <a:stretch>
            <a:fillRect/>
          </a:stretch>
        </p:blipFill>
        <p:spPr>
          <a:xfrm>
            <a:off x="643467" y="825416"/>
            <a:ext cx="10905066" cy="5207168"/>
          </a:xfrm>
          <a:prstGeom prst="rect">
            <a:avLst/>
          </a:prstGeom>
        </p:spPr>
      </p:pic>
    </p:spTree>
    <p:extLst>
      <p:ext uri="{BB962C8B-B14F-4D97-AF65-F5344CB8AC3E}">
        <p14:creationId xmlns:p14="http://schemas.microsoft.com/office/powerpoint/2010/main" val="3764943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7C6B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807100A-CA44-4B5D-B251-59690A358E21}"/>
              </a:ext>
            </a:extLst>
          </p:cNvPr>
          <p:cNvPicPr>
            <a:picLocks noChangeAspect="1"/>
          </p:cNvPicPr>
          <p:nvPr/>
        </p:nvPicPr>
        <p:blipFill>
          <a:blip r:embed="rId2"/>
          <a:stretch>
            <a:fillRect/>
          </a:stretch>
        </p:blipFill>
        <p:spPr>
          <a:xfrm>
            <a:off x="477012" y="875004"/>
            <a:ext cx="11084560" cy="5250232"/>
          </a:xfrm>
          <a:prstGeom prst="rect">
            <a:avLst/>
          </a:prstGeom>
        </p:spPr>
      </p:pic>
    </p:spTree>
    <p:extLst>
      <p:ext uri="{BB962C8B-B14F-4D97-AF65-F5344CB8AC3E}">
        <p14:creationId xmlns:p14="http://schemas.microsoft.com/office/powerpoint/2010/main" val="3875427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7C6B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97177C5-3605-4F14-B526-7BF091493A07}"/>
              </a:ext>
            </a:extLst>
          </p:cNvPr>
          <p:cNvPicPr>
            <a:picLocks noChangeAspect="1"/>
          </p:cNvPicPr>
          <p:nvPr/>
        </p:nvPicPr>
        <p:blipFill>
          <a:blip r:embed="rId2"/>
          <a:stretch>
            <a:fillRect/>
          </a:stretch>
        </p:blipFill>
        <p:spPr>
          <a:xfrm>
            <a:off x="543560" y="656059"/>
            <a:ext cx="11104880" cy="5721881"/>
          </a:xfrm>
          <a:prstGeom prst="rect">
            <a:avLst/>
          </a:prstGeom>
        </p:spPr>
      </p:pic>
    </p:spTree>
    <p:extLst>
      <p:ext uri="{BB962C8B-B14F-4D97-AF65-F5344CB8AC3E}">
        <p14:creationId xmlns:p14="http://schemas.microsoft.com/office/powerpoint/2010/main" val="28778720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7C6B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F2A410A4-9892-43A1-99DD-1CE5D82187EE}"/>
              </a:ext>
            </a:extLst>
          </p:cNvPr>
          <p:cNvPicPr>
            <a:picLocks noChangeAspect="1"/>
          </p:cNvPicPr>
          <p:nvPr/>
        </p:nvPicPr>
        <p:blipFill>
          <a:blip r:embed="rId2"/>
          <a:stretch>
            <a:fillRect/>
          </a:stretch>
        </p:blipFill>
        <p:spPr>
          <a:xfrm>
            <a:off x="732028" y="1700496"/>
            <a:ext cx="10982960" cy="3150797"/>
          </a:xfrm>
          <a:prstGeom prst="rect">
            <a:avLst/>
          </a:prstGeom>
        </p:spPr>
      </p:pic>
    </p:spTree>
    <p:extLst>
      <p:ext uri="{BB962C8B-B14F-4D97-AF65-F5344CB8AC3E}">
        <p14:creationId xmlns:p14="http://schemas.microsoft.com/office/powerpoint/2010/main" val="966034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Content Placeholder 12">
            <a:extLst>
              <a:ext uri="{FF2B5EF4-FFF2-40B4-BE49-F238E27FC236}">
                <a16:creationId xmlns:a16="http://schemas.microsoft.com/office/drawing/2014/main" id="{20AABF50-2D01-5A4F-26DB-2D2707D25DFB}"/>
              </a:ext>
            </a:extLst>
          </p:cNvPr>
          <p:cNvSpPr>
            <a:spLocks noGrp="1"/>
          </p:cNvSpPr>
          <p:nvPr>
            <p:ph idx="1"/>
          </p:nvPr>
        </p:nvSpPr>
        <p:spPr>
          <a:xfrm>
            <a:off x="339048" y="1749122"/>
            <a:ext cx="3914453" cy="4664526"/>
          </a:xfrm>
        </p:spPr>
        <p:txBody>
          <a:bodyPr>
            <a:normAutofit/>
          </a:bodyPr>
          <a:lstStyle/>
          <a:p>
            <a:pPr marL="0" indent="0">
              <a:buNone/>
            </a:pPr>
            <a:endParaRPr lang="en-US" sz="2400" dirty="0"/>
          </a:p>
          <a:p>
            <a:r>
              <a:rPr lang="en-US" sz="2400" dirty="0"/>
              <a:t> Higher amounts are passed in the cross-pass treatment.</a:t>
            </a:r>
          </a:p>
          <a:p>
            <a:pPr marL="0" indent="0">
              <a:buNone/>
            </a:pPr>
            <a:endParaRPr lang="en-US" sz="2400" dirty="0"/>
          </a:p>
          <a:p>
            <a:r>
              <a:rPr lang="en-US" sz="2400" b="1" dirty="0">
                <a:solidFill>
                  <a:srgbClr val="FF0000"/>
                </a:solidFill>
              </a:rPr>
              <a:t>Trust is strong even in the final round, </a:t>
            </a:r>
            <a:r>
              <a:rPr lang="en-US" sz="2400" dirty="0"/>
              <a:t>in contrast to the Prisoner’s Dilemma Choice of Partners Game (slide 7)</a:t>
            </a:r>
          </a:p>
        </p:txBody>
      </p:sp>
      <p:sp>
        <p:nvSpPr>
          <p:cNvPr id="16" name="Rectangle 15">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58307FD4-725A-49B1-957A-537B8C225BA4}"/>
              </a:ext>
            </a:extLst>
          </p:cNvPr>
          <p:cNvPicPr>
            <a:picLocks noChangeAspect="1"/>
          </p:cNvPicPr>
          <p:nvPr/>
        </p:nvPicPr>
        <p:blipFill>
          <a:blip r:embed="rId2"/>
          <a:stretch>
            <a:fillRect/>
          </a:stretch>
        </p:blipFill>
        <p:spPr>
          <a:xfrm>
            <a:off x="5246751" y="1154184"/>
            <a:ext cx="6337554" cy="4593544"/>
          </a:xfrm>
          <a:prstGeom prst="rect">
            <a:avLst/>
          </a:prstGeom>
        </p:spPr>
      </p:pic>
      <p:sp>
        <p:nvSpPr>
          <p:cNvPr id="14" name="TextBox 13">
            <a:extLst>
              <a:ext uri="{FF2B5EF4-FFF2-40B4-BE49-F238E27FC236}">
                <a16:creationId xmlns:a16="http://schemas.microsoft.com/office/drawing/2014/main" id="{0CA2775B-8D98-4D48-86B0-A3A3E0517530}"/>
              </a:ext>
            </a:extLst>
          </p:cNvPr>
          <p:cNvSpPr txBox="1"/>
          <p:nvPr/>
        </p:nvSpPr>
        <p:spPr>
          <a:xfrm>
            <a:off x="484214" y="656106"/>
            <a:ext cx="3462144" cy="1323439"/>
          </a:xfrm>
          <a:prstGeom prst="rect">
            <a:avLst/>
          </a:prstGeom>
          <a:noFill/>
        </p:spPr>
        <p:txBody>
          <a:bodyPr wrap="square">
            <a:spAutoFit/>
          </a:bodyPr>
          <a:lstStyle/>
          <a:p>
            <a:r>
              <a:rPr kumimoji="0" lang="en-US" sz="4000" b="0" i="0" u="none" strike="noStrike" kern="1200" cap="none" spc="0" normalizeH="0" baseline="0" noProof="0" dirty="0">
                <a:ln>
                  <a:noFill/>
                </a:ln>
                <a:solidFill>
                  <a:prstClr val="black"/>
                </a:solidFill>
                <a:effectLst/>
                <a:uLnTx/>
                <a:uFillTx/>
                <a:latin typeface="Calibri Light" panose="020F0302020204030204"/>
                <a:ea typeface="+mj-ea"/>
                <a:cs typeface="+mj-cs"/>
              </a:rPr>
              <a:t>Average Pass Amounts</a:t>
            </a:r>
            <a:endParaRPr lang="en-US" dirty="0"/>
          </a:p>
        </p:txBody>
      </p:sp>
    </p:spTree>
    <p:extLst>
      <p:ext uri="{BB962C8B-B14F-4D97-AF65-F5344CB8AC3E}">
        <p14:creationId xmlns:p14="http://schemas.microsoft.com/office/powerpoint/2010/main" val="114676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EC9D32B6-3BC3-43CA-9EA9-11D3A7E3B057}"/>
              </a:ext>
            </a:extLst>
          </p:cNvPr>
          <p:cNvSpPr>
            <a:spLocks noGrp="1"/>
          </p:cNvSpPr>
          <p:nvPr>
            <p:ph idx="1"/>
          </p:nvPr>
        </p:nvSpPr>
        <p:spPr>
          <a:xfrm>
            <a:off x="484214" y="1865218"/>
            <a:ext cx="3670628" cy="4431753"/>
          </a:xfrm>
        </p:spPr>
        <p:txBody>
          <a:bodyPr>
            <a:normAutofit lnSpcReduction="1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Round-level averages: Cross-pass treatments have</a:t>
            </a:r>
            <a:r>
              <a:rPr kumimoji="0" lang="en-US" sz="2400" b="1" i="0" u="none" strike="noStrike" kern="1200" cap="none" spc="0" normalizeH="0" baseline="0" noProof="0" dirty="0">
                <a:ln>
                  <a:noFill/>
                </a:ln>
                <a:solidFill>
                  <a:srgbClr val="FF0000"/>
                </a:solidFill>
                <a:effectLst/>
                <a:uLnTx/>
                <a:uFillTx/>
                <a:latin typeface="Calibri" panose="020F0502020204030204"/>
                <a:ea typeface="+mn-ea"/>
                <a:cs typeface="+mn-cs"/>
              </a:rPr>
              <a:t> higher total pass amounts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400" b="1" dirty="0">
              <a:solidFill>
                <a:srgbClr val="FF0000"/>
              </a:solidFill>
              <a:latin typeface="Calibri" panose="020F05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Session-level averages also show a trend of </a:t>
            </a:r>
            <a:r>
              <a:rPr kumimoji="0" lang="en-US" sz="2400" b="1" i="0" u="none" strike="noStrike" kern="1200" cap="none" spc="0" normalizeH="0" baseline="0" noProof="0" dirty="0">
                <a:ln>
                  <a:noFill/>
                </a:ln>
                <a:solidFill>
                  <a:srgbClr val="FF0000"/>
                </a:solidFill>
                <a:effectLst/>
                <a:uLnTx/>
                <a:uFillTx/>
                <a:latin typeface="Calibri" panose="020F0502020204030204"/>
                <a:ea typeface="+mn-ea"/>
                <a:cs typeface="+mn-cs"/>
              </a:rPr>
              <a:t>higher total pass amounts in cross-pass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treatments as participants specialize in profitable links and </a:t>
            </a:r>
            <a:r>
              <a:rPr kumimoji="0" lang="en-US" sz="2400" b="1" i="0" u="none" strike="noStrike" kern="1200" cap="none" spc="0" normalizeH="0" baseline="0" noProof="0" dirty="0">
                <a:ln>
                  <a:noFill/>
                </a:ln>
                <a:solidFill>
                  <a:srgbClr val="FF0000"/>
                </a:solidFill>
                <a:effectLst/>
                <a:uLnTx/>
                <a:uFillTx/>
                <a:latin typeface="Calibri" panose="020F0502020204030204"/>
                <a:ea typeface="+mn-ea"/>
                <a:cs typeface="+mn-cs"/>
              </a:rPr>
              <a:t>scale them up by passing more</a:t>
            </a:r>
            <a:endParaRPr kumimoji="0" lang="en-US" sz="2400" b="0" i="0" u="none" strike="noStrike" kern="1200" cap="none" spc="0" normalizeH="0" baseline="0" noProof="0" dirty="0">
              <a:ln>
                <a:noFill/>
              </a:ln>
              <a:solidFill>
                <a:srgbClr val="FF0000"/>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000" dirty="0"/>
          </a:p>
        </p:txBody>
      </p:sp>
      <p:sp>
        <p:nvSpPr>
          <p:cNvPr id="14" name="Rectangle 13">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F7688790-C892-4722-88F5-85B6A7392DF5}"/>
              </a:ext>
            </a:extLst>
          </p:cNvPr>
          <p:cNvPicPr>
            <a:picLocks noChangeAspect="1"/>
          </p:cNvPicPr>
          <p:nvPr/>
        </p:nvPicPr>
        <p:blipFill>
          <a:blip r:embed="rId2"/>
          <a:stretch>
            <a:fillRect/>
          </a:stretch>
        </p:blipFill>
        <p:spPr>
          <a:xfrm>
            <a:off x="5331635" y="1092197"/>
            <a:ext cx="6167786" cy="4466122"/>
          </a:xfrm>
          <a:prstGeom prst="rect">
            <a:avLst/>
          </a:prstGeom>
        </p:spPr>
      </p:pic>
      <p:sp>
        <p:nvSpPr>
          <p:cNvPr id="13" name="TextBox 12">
            <a:extLst>
              <a:ext uri="{FF2B5EF4-FFF2-40B4-BE49-F238E27FC236}">
                <a16:creationId xmlns:a16="http://schemas.microsoft.com/office/drawing/2014/main" id="{48CBCBF6-5EF9-46F4-8E02-FA2AE3907EAD}"/>
              </a:ext>
            </a:extLst>
          </p:cNvPr>
          <p:cNvSpPr txBox="1"/>
          <p:nvPr/>
        </p:nvSpPr>
        <p:spPr>
          <a:xfrm>
            <a:off x="484214" y="430477"/>
            <a:ext cx="3458383"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Light" panose="020F0302020204030204"/>
                <a:ea typeface="+mn-ea"/>
                <a:cs typeface="+mn-cs"/>
              </a:rPr>
              <a:t>Total Pass Amounts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4208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EC9D32B6-3BC3-43CA-9EA9-11D3A7E3B057}"/>
              </a:ext>
            </a:extLst>
          </p:cNvPr>
          <p:cNvSpPr>
            <a:spLocks noGrp="1"/>
          </p:cNvSpPr>
          <p:nvPr>
            <p:ph idx="1"/>
          </p:nvPr>
        </p:nvSpPr>
        <p:spPr>
          <a:xfrm>
            <a:off x="538264" y="1636294"/>
            <a:ext cx="3616578" cy="4581625"/>
          </a:xfrm>
        </p:spPr>
        <p:txBody>
          <a:bodyPr>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b="1" dirty="0">
                <a:solidFill>
                  <a:srgbClr val="FF0000"/>
                </a:solidFill>
                <a:latin typeface="Calibri" panose="020F0502020204030204"/>
              </a:rPr>
              <a:t>H</a:t>
            </a:r>
            <a:r>
              <a:rPr kumimoji="0" lang="en-US" sz="2400" b="1" i="0" u="none" strike="noStrike" kern="1200" cap="none" spc="0" normalizeH="0" baseline="0" noProof="0" dirty="0" err="1">
                <a:ln>
                  <a:noFill/>
                </a:ln>
                <a:solidFill>
                  <a:srgbClr val="FF0000"/>
                </a:solidFill>
                <a:effectLst/>
                <a:uLnTx/>
                <a:uFillTx/>
                <a:latin typeface="Calibri" panose="020F0502020204030204"/>
                <a:ea typeface="+mn-ea"/>
                <a:cs typeface="+mn-cs"/>
              </a:rPr>
              <a:t>igher</a:t>
            </a:r>
            <a:r>
              <a:rPr kumimoji="0" lang="en-US" sz="2400" b="1" i="0" u="none" strike="noStrike" kern="1200" cap="none" spc="0" normalizeH="0" baseline="0" noProof="0" dirty="0">
                <a:ln>
                  <a:noFill/>
                </a:ln>
                <a:solidFill>
                  <a:srgbClr val="FF0000"/>
                </a:solidFill>
                <a:effectLst/>
                <a:uLnTx/>
                <a:uFillTx/>
                <a:latin typeface="Calibri" panose="020F0502020204030204"/>
                <a:ea typeface="+mn-ea"/>
                <a:cs typeface="+mn-cs"/>
              </a:rPr>
              <a:t> return amounts in the cross-pass treatment</a:t>
            </a:r>
          </a:p>
          <a:p>
            <a:pPr marL="0" marR="0" lvl="0" indent="0" algn="l" defTabSz="914400" rtl="0" eaLnBrk="1" fontAlgn="auto" latinLnBrk="0" hangingPunct="1">
              <a:lnSpc>
                <a:spcPct val="90000"/>
              </a:lnSpc>
              <a:spcBef>
                <a:spcPts val="1000"/>
              </a:spcBef>
              <a:spcAft>
                <a:spcPts val="0"/>
              </a:spcAft>
              <a:buClrTx/>
              <a:buSzTx/>
              <a:buNone/>
              <a:tabLst/>
              <a:defRPr/>
            </a:pPr>
            <a:endParaRPr kumimoji="0" lang="en-US" sz="2400" b="1" i="0" u="none" strike="noStrike" kern="1200" cap="none" spc="0" normalizeH="0" baseline="0" noProof="0" dirty="0">
              <a:ln>
                <a:noFill/>
              </a:ln>
              <a:solidFill>
                <a:srgbClr val="FF0000"/>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Final period drop-off in </a:t>
            </a:r>
            <a:r>
              <a:rPr lang="en-US" sz="2400" dirty="0">
                <a:solidFill>
                  <a:prstClr val="black"/>
                </a:solidFill>
                <a:latin typeface="Calibri" panose="020F0502020204030204"/>
              </a:rPr>
              <a:t>return amounts.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Return amounts in both treatments are above the maximum possible pass amount until final round</a:t>
            </a:r>
            <a:endParaRPr kumimoji="0" lang="en-US" sz="2400" b="1" i="0" u="none" strike="noStrike" kern="1200" cap="none" spc="0" normalizeH="0" baseline="0" noProof="0" dirty="0">
              <a:ln>
                <a:noFill/>
              </a:ln>
              <a:solidFill>
                <a:srgbClr val="FF0000"/>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None/>
              <a:tabLst/>
              <a:defRPr/>
            </a:pPr>
            <a:endParaRPr kumimoji="0" lang="en-US" sz="2400" b="0" i="0" u="none" strike="noStrike" kern="1200" cap="none" spc="0" normalizeH="0" baseline="0" noProof="0" dirty="0">
              <a:ln>
                <a:noFill/>
              </a:ln>
              <a:solidFill>
                <a:srgbClr val="FF0000"/>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sz="2000" dirty="0"/>
          </a:p>
        </p:txBody>
      </p:sp>
      <p:sp>
        <p:nvSpPr>
          <p:cNvPr id="14" name="Rectangle 13">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6CFACAB1-ACDD-4FF0-9211-E265F0F771B5}"/>
              </a:ext>
            </a:extLst>
          </p:cNvPr>
          <p:cNvPicPr>
            <a:picLocks noChangeAspect="1"/>
          </p:cNvPicPr>
          <p:nvPr/>
        </p:nvPicPr>
        <p:blipFill>
          <a:blip r:embed="rId2"/>
          <a:stretch>
            <a:fillRect/>
          </a:stretch>
        </p:blipFill>
        <p:spPr>
          <a:xfrm>
            <a:off x="5208163" y="1222524"/>
            <a:ext cx="6414729" cy="4658512"/>
          </a:xfrm>
          <a:prstGeom prst="rect">
            <a:avLst/>
          </a:prstGeom>
        </p:spPr>
      </p:pic>
      <p:sp>
        <p:nvSpPr>
          <p:cNvPr id="11" name="TextBox 10">
            <a:extLst>
              <a:ext uri="{FF2B5EF4-FFF2-40B4-BE49-F238E27FC236}">
                <a16:creationId xmlns:a16="http://schemas.microsoft.com/office/drawing/2014/main" id="{F5F418AE-1320-4E1C-AD12-F2062D18E7F2}"/>
              </a:ext>
            </a:extLst>
          </p:cNvPr>
          <p:cNvSpPr txBox="1"/>
          <p:nvPr/>
        </p:nvSpPr>
        <p:spPr>
          <a:xfrm>
            <a:off x="445392" y="452646"/>
            <a:ext cx="6097604"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Light" panose="020F0302020204030204"/>
                <a:ea typeface="+mn-ea"/>
                <a:cs typeface="+mn-cs"/>
              </a:rPr>
              <a:t>Average Return </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9535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7000B7-5C10-4EDA-BED6-3E00CEE3526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Case Study #1: No Cross-Pass</a:t>
            </a:r>
          </a:p>
        </p:txBody>
      </p:sp>
      <p:pic>
        <p:nvPicPr>
          <p:cNvPr id="5" name="Content Placeholder 4">
            <a:extLst>
              <a:ext uri="{FF2B5EF4-FFF2-40B4-BE49-F238E27FC236}">
                <a16:creationId xmlns:a16="http://schemas.microsoft.com/office/drawing/2014/main" id="{C1DB8F13-02BA-45B4-84E6-2FB87FC907AD}"/>
              </a:ext>
            </a:extLst>
          </p:cNvPr>
          <p:cNvPicPr>
            <a:picLocks noGrp="1" noChangeAspect="1"/>
          </p:cNvPicPr>
          <p:nvPr>
            <p:ph idx="1"/>
          </p:nvPr>
        </p:nvPicPr>
        <p:blipFill>
          <a:blip r:embed="rId2"/>
          <a:stretch>
            <a:fillRect/>
          </a:stretch>
        </p:blipFill>
        <p:spPr>
          <a:xfrm>
            <a:off x="0" y="1751751"/>
            <a:ext cx="11650894" cy="3000105"/>
          </a:xfrm>
          <a:prstGeom prst="rect">
            <a:avLst/>
          </a:prstGeom>
        </p:spPr>
      </p:pic>
      <p:sp>
        <p:nvSpPr>
          <p:cNvPr id="7" name="TextBox 6">
            <a:extLst>
              <a:ext uri="{FF2B5EF4-FFF2-40B4-BE49-F238E27FC236}">
                <a16:creationId xmlns:a16="http://schemas.microsoft.com/office/drawing/2014/main" id="{5C8D11A8-767E-43BE-8CF7-4A546673B0D6}"/>
              </a:ext>
            </a:extLst>
          </p:cNvPr>
          <p:cNvSpPr txBox="1"/>
          <p:nvPr/>
        </p:nvSpPr>
        <p:spPr>
          <a:xfrm>
            <a:off x="556531" y="4997542"/>
            <a:ext cx="11210925" cy="1569660"/>
          </a:xfrm>
          <a:prstGeom prst="rect">
            <a:avLst/>
          </a:prstGeom>
          <a:noFill/>
        </p:spPr>
        <p:txBody>
          <a:bodyPr wrap="square">
            <a:spAutoFit/>
          </a:bodyPr>
          <a:lstStyle/>
          <a:p>
            <a:pPr marL="342900" indent="-342900">
              <a:buFont typeface="Arial" panose="020B0604020202020204" pitchFamily="34" charset="0"/>
              <a:buChar char="•"/>
            </a:pPr>
            <a:r>
              <a:rPr lang="en-US" sz="2400" dirty="0"/>
              <a:t>Second mover </a:t>
            </a:r>
            <a:r>
              <a:rPr lang="en-US" sz="2400" b="1" dirty="0">
                <a:solidFill>
                  <a:srgbClr val="FF0000"/>
                </a:solidFill>
              </a:rPr>
              <a:t>ID 7 </a:t>
            </a:r>
            <a:r>
              <a:rPr lang="en-US" sz="2400" dirty="0"/>
              <a:t>in the top row started off returning almost all the tripled amounts in initial rounds.</a:t>
            </a:r>
          </a:p>
          <a:p>
            <a:pPr marL="342900" indent="-342900">
              <a:buFont typeface="Arial" panose="020B0604020202020204" pitchFamily="34" charset="0"/>
              <a:buChar char="•"/>
            </a:pPr>
            <a:r>
              <a:rPr lang="en-US" sz="2400" dirty="0"/>
              <a:t>Without the opportunity to cross-pass, first movers tend to </a:t>
            </a:r>
            <a:r>
              <a:rPr lang="en-US" sz="2400" b="1" dirty="0">
                <a:solidFill>
                  <a:srgbClr val="FF0000"/>
                </a:solidFill>
              </a:rPr>
              <a:t>maintain links </a:t>
            </a:r>
            <a:r>
              <a:rPr lang="en-US" sz="2400" dirty="0"/>
              <a:t>with the maximum number of second movers (3).</a:t>
            </a:r>
          </a:p>
        </p:txBody>
      </p:sp>
      <p:sp>
        <p:nvSpPr>
          <p:cNvPr id="4" name="Oval 3">
            <a:extLst>
              <a:ext uri="{FF2B5EF4-FFF2-40B4-BE49-F238E27FC236}">
                <a16:creationId xmlns:a16="http://schemas.microsoft.com/office/drawing/2014/main" id="{2248FB17-5978-0155-7AD9-91E3A83F27EF}"/>
              </a:ext>
            </a:extLst>
          </p:cNvPr>
          <p:cNvSpPr/>
          <p:nvPr/>
        </p:nvSpPr>
        <p:spPr>
          <a:xfrm>
            <a:off x="1699591" y="1677955"/>
            <a:ext cx="2156792" cy="126402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solidFill>
                <a:srgbClr val="FF0000"/>
              </a:solidFill>
            </a:endParaRPr>
          </a:p>
        </p:txBody>
      </p:sp>
      <p:sp>
        <p:nvSpPr>
          <p:cNvPr id="6" name="Oval 5">
            <a:extLst>
              <a:ext uri="{FF2B5EF4-FFF2-40B4-BE49-F238E27FC236}">
                <a16:creationId xmlns:a16="http://schemas.microsoft.com/office/drawing/2014/main" id="{D00E1C95-27B6-BAD3-1669-A72F1147C96A}"/>
              </a:ext>
            </a:extLst>
          </p:cNvPr>
          <p:cNvSpPr/>
          <p:nvPr/>
        </p:nvSpPr>
        <p:spPr>
          <a:xfrm>
            <a:off x="10492409" y="1396588"/>
            <a:ext cx="1085022" cy="323750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solidFill>
                <a:srgbClr val="FF0000"/>
              </a:solidFill>
            </a:endParaRPr>
          </a:p>
        </p:txBody>
      </p:sp>
    </p:spTree>
    <p:extLst>
      <p:ext uri="{BB962C8B-B14F-4D97-AF65-F5344CB8AC3E}">
        <p14:creationId xmlns:p14="http://schemas.microsoft.com/office/powerpoint/2010/main" val="34892152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7000B7-5C10-4EDA-BED6-3E00CEE3526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Case Study #2: Cross-Pass</a:t>
            </a:r>
          </a:p>
        </p:txBody>
      </p:sp>
      <p:pic>
        <p:nvPicPr>
          <p:cNvPr id="5" name="Content Placeholder 4">
            <a:extLst>
              <a:ext uri="{FF2B5EF4-FFF2-40B4-BE49-F238E27FC236}">
                <a16:creationId xmlns:a16="http://schemas.microsoft.com/office/drawing/2014/main" id="{41D7359C-CD9D-4026-A590-9807622C69EB}"/>
              </a:ext>
            </a:extLst>
          </p:cNvPr>
          <p:cNvPicPr>
            <a:picLocks noGrp="1" noChangeAspect="1"/>
          </p:cNvPicPr>
          <p:nvPr>
            <p:ph idx="1"/>
          </p:nvPr>
        </p:nvPicPr>
        <p:blipFill>
          <a:blip r:embed="rId2"/>
          <a:stretch>
            <a:fillRect/>
          </a:stretch>
        </p:blipFill>
        <p:spPr>
          <a:xfrm>
            <a:off x="0" y="1753757"/>
            <a:ext cx="12192000" cy="2987038"/>
          </a:xfrm>
          <a:prstGeom prst="rect">
            <a:avLst/>
          </a:prstGeom>
        </p:spPr>
      </p:pic>
      <p:sp>
        <p:nvSpPr>
          <p:cNvPr id="9" name="TextBox 8">
            <a:extLst>
              <a:ext uri="{FF2B5EF4-FFF2-40B4-BE49-F238E27FC236}">
                <a16:creationId xmlns:a16="http://schemas.microsoft.com/office/drawing/2014/main" id="{E2C3C9E2-E833-466E-BD41-B6AA1BB4B4BD}"/>
              </a:ext>
            </a:extLst>
          </p:cNvPr>
          <p:cNvSpPr txBox="1"/>
          <p:nvPr/>
        </p:nvSpPr>
        <p:spPr>
          <a:xfrm>
            <a:off x="556531" y="5106249"/>
            <a:ext cx="11210925" cy="830997"/>
          </a:xfrm>
          <a:prstGeom prst="rect">
            <a:avLst/>
          </a:prstGeom>
          <a:noFill/>
        </p:spPr>
        <p:txBody>
          <a:bodyPr wrap="square">
            <a:spAutoFit/>
          </a:bodyPr>
          <a:lstStyle/>
          <a:p>
            <a:pPr marL="342900" indent="-342900">
              <a:buFont typeface="Arial" panose="020B0604020202020204" pitchFamily="34" charset="0"/>
              <a:buChar char="•"/>
            </a:pPr>
            <a:r>
              <a:rPr lang="en-US" sz="2400" dirty="0"/>
              <a:t>Given the opportunity to cross-pass, first movers tend to </a:t>
            </a:r>
            <a:r>
              <a:rPr lang="en-US" sz="2400" b="1" dirty="0">
                <a:solidFill>
                  <a:srgbClr val="FF0000"/>
                </a:solidFill>
              </a:rPr>
              <a:t>specialize and scale up links with exceptionally responsive second movers </a:t>
            </a:r>
            <a:r>
              <a:rPr lang="en-US" sz="2400" dirty="0"/>
              <a:t>and deactivate other links</a:t>
            </a:r>
          </a:p>
        </p:txBody>
      </p:sp>
      <p:pic>
        <p:nvPicPr>
          <p:cNvPr id="7" name="Content Placeholder 4">
            <a:extLst>
              <a:ext uri="{FF2B5EF4-FFF2-40B4-BE49-F238E27FC236}">
                <a16:creationId xmlns:a16="http://schemas.microsoft.com/office/drawing/2014/main" id="{D37C87AF-EC08-456C-B265-B3C4A2862026}"/>
              </a:ext>
            </a:extLst>
          </p:cNvPr>
          <p:cNvPicPr>
            <a:picLocks noChangeAspect="1"/>
          </p:cNvPicPr>
          <p:nvPr/>
        </p:nvPicPr>
        <p:blipFill>
          <a:blip r:embed="rId2"/>
          <a:stretch>
            <a:fillRect/>
          </a:stretch>
        </p:blipFill>
        <p:spPr>
          <a:xfrm>
            <a:off x="0" y="1751751"/>
            <a:ext cx="12192000" cy="2987038"/>
          </a:xfrm>
          <a:prstGeom prst="rect">
            <a:avLst/>
          </a:prstGeom>
        </p:spPr>
      </p:pic>
      <p:sp>
        <p:nvSpPr>
          <p:cNvPr id="4" name="Oval 3">
            <a:extLst>
              <a:ext uri="{FF2B5EF4-FFF2-40B4-BE49-F238E27FC236}">
                <a16:creationId xmlns:a16="http://schemas.microsoft.com/office/drawing/2014/main" id="{01DFB02B-B636-EA2F-7E0B-269C2F8B6372}"/>
              </a:ext>
            </a:extLst>
          </p:cNvPr>
          <p:cNvSpPr/>
          <p:nvPr/>
        </p:nvSpPr>
        <p:spPr>
          <a:xfrm>
            <a:off x="1249680" y="1595120"/>
            <a:ext cx="5684631" cy="168656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solidFill>
                <a:srgbClr val="FF0000"/>
              </a:solidFill>
            </a:endParaRPr>
          </a:p>
        </p:txBody>
      </p:sp>
    </p:spTree>
    <p:extLst>
      <p:ext uri="{BB962C8B-B14F-4D97-AF65-F5344CB8AC3E}">
        <p14:creationId xmlns:p14="http://schemas.microsoft.com/office/powerpoint/2010/main" val="38774627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D190D4D-4019-4C89-81F1-17365528064D}"/>
              </a:ext>
            </a:extLst>
          </p:cNvPr>
          <p:cNvPicPr>
            <a:picLocks noChangeAspect="1"/>
          </p:cNvPicPr>
          <p:nvPr/>
        </p:nvPicPr>
        <p:blipFill>
          <a:blip r:embed="rId2"/>
          <a:stretch>
            <a:fillRect/>
          </a:stretch>
        </p:blipFill>
        <p:spPr>
          <a:xfrm>
            <a:off x="1300793" y="0"/>
            <a:ext cx="9590414" cy="6858000"/>
          </a:xfrm>
          <a:prstGeom prst="rect">
            <a:avLst/>
          </a:prstGeom>
        </p:spPr>
      </p:pic>
    </p:spTree>
    <p:extLst>
      <p:ext uri="{BB962C8B-B14F-4D97-AF65-F5344CB8AC3E}">
        <p14:creationId xmlns:p14="http://schemas.microsoft.com/office/powerpoint/2010/main" val="7582033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Content Placeholder 12">
            <a:extLst>
              <a:ext uri="{FF2B5EF4-FFF2-40B4-BE49-F238E27FC236}">
                <a16:creationId xmlns:a16="http://schemas.microsoft.com/office/drawing/2014/main" id="{20AABF50-2D01-5A4F-26DB-2D2707D25DFB}"/>
              </a:ext>
            </a:extLst>
          </p:cNvPr>
          <p:cNvSpPr>
            <a:spLocks noGrp="1"/>
          </p:cNvSpPr>
          <p:nvPr>
            <p:ph idx="1"/>
          </p:nvPr>
        </p:nvSpPr>
        <p:spPr>
          <a:xfrm>
            <a:off x="339048" y="1849120"/>
            <a:ext cx="3914453" cy="4374699"/>
          </a:xfrm>
        </p:spPr>
        <p:txBody>
          <a:bodyPr>
            <a:normAutofit/>
          </a:bodyPr>
          <a:lstStyle/>
          <a:p>
            <a:r>
              <a:rPr lang="en-US" sz="2400" dirty="0"/>
              <a:t>Round-level averages: Cross-pass treatments have </a:t>
            </a:r>
            <a:r>
              <a:rPr lang="en-US" sz="2400" b="1" dirty="0">
                <a:solidFill>
                  <a:srgbClr val="FF0000"/>
                </a:solidFill>
              </a:rPr>
              <a:t>lower percent active links after round 1</a:t>
            </a:r>
          </a:p>
          <a:p>
            <a:pPr marL="0" indent="0">
              <a:buNone/>
            </a:pPr>
            <a:endParaRPr lang="en-US" sz="2400" dirty="0"/>
          </a:p>
          <a:p>
            <a:r>
              <a:rPr lang="en-US" sz="2400" dirty="0"/>
              <a:t>Session-level averages also show a trend of </a:t>
            </a:r>
            <a:r>
              <a:rPr lang="en-US" sz="2400" b="1" dirty="0">
                <a:solidFill>
                  <a:srgbClr val="FF0000"/>
                </a:solidFill>
              </a:rPr>
              <a:t>lower percent active links in cross-pass </a:t>
            </a:r>
            <a:r>
              <a:rPr lang="en-US" sz="2400" dirty="0"/>
              <a:t>treatments as participants specialize in profitable links </a:t>
            </a:r>
          </a:p>
        </p:txBody>
      </p:sp>
      <p:sp>
        <p:nvSpPr>
          <p:cNvPr id="16" name="Rectangle 15">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1D07BFE-A7C0-4433-A56D-DA68C1C4B875}"/>
              </a:ext>
            </a:extLst>
          </p:cNvPr>
          <p:cNvPicPr>
            <a:picLocks noChangeAspect="1"/>
          </p:cNvPicPr>
          <p:nvPr/>
        </p:nvPicPr>
        <p:blipFill>
          <a:blip r:embed="rId2"/>
          <a:stretch>
            <a:fillRect/>
          </a:stretch>
        </p:blipFill>
        <p:spPr>
          <a:xfrm>
            <a:off x="5123688" y="1076960"/>
            <a:ext cx="6584098" cy="4776064"/>
          </a:xfrm>
          <a:prstGeom prst="rect">
            <a:avLst/>
          </a:prstGeom>
        </p:spPr>
      </p:pic>
      <p:sp>
        <p:nvSpPr>
          <p:cNvPr id="11" name="TextBox 10">
            <a:extLst>
              <a:ext uri="{FF2B5EF4-FFF2-40B4-BE49-F238E27FC236}">
                <a16:creationId xmlns:a16="http://schemas.microsoft.com/office/drawing/2014/main" id="{BE9C3026-3F35-4725-9914-4B3BB092FB9C}"/>
              </a:ext>
            </a:extLst>
          </p:cNvPr>
          <p:cNvSpPr txBox="1"/>
          <p:nvPr/>
        </p:nvSpPr>
        <p:spPr>
          <a:xfrm>
            <a:off x="339048" y="580205"/>
            <a:ext cx="6096000"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Light" panose="020F0302020204030204"/>
                <a:ea typeface="+mn-ea"/>
                <a:cs typeface="+mn-cs"/>
              </a:rPr>
              <a:t>Active Links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964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7A419-7E2E-4C9C-8ADC-06598B082501}"/>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A584BAC6-8AF7-4235-B044-5DBDDCD8CF68}"/>
              </a:ext>
            </a:extLst>
          </p:cNvPr>
          <p:cNvSpPr>
            <a:spLocks noGrp="1"/>
          </p:cNvSpPr>
          <p:nvPr>
            <p:ph idx="1"/>
          </p:nvPr>
        </p:nvSpPr>
        <p:spPr/>
        <p:txBody>
          <a:bodyPr>
            <a:normAutofit/>
          </a:bodyPr>
          <a:lstStyle/>
          <a:p>
            <a:r>
              <a:rPr lang="en-US" dirty="0">
                <a:sym typeface="Wingdings" panose="05000000000000000000" pitchFamily="2" charset="2"/>
              </a:rPr>
              <a:t>Potential Mechanisms:</a:t>
            </a:r>
          </a:p>
          <a:p>
            <a:pPr lvl="1"/>
            <a:r>
              <a:rPr lang="en-US" dirty="0"/>
              <a:t>Increased </a:t>
            </a:r>
            <a:r>
              <a:rPr lang="en-US" dirty="0">
                <a:solidFill>
                  <a:srgbClr val="FF0000"/>
                </a:solidFill>
              </a:rPr>
              <a:t>flexibility</a:t>
            </a:r>
            <a:r>
              <a:rPr lang="en-US" dirty="0"/>
              <a:t> in relationships </a:t>
            </a:r>
          </a:p>
          <a:p>
            <a:pPr lvl="1"/>
            <a:r>
              <a:rPr lang="en-US" dirty="0"/>
              <a:t>Increased </a:t>
            </a:r>
            <a:r>
              <a:rPr lang="en-US" dirty="0">
                <a:solidFill>
                  <a:srgbClr val="FF0000"/>
                </a:solidFill>
              </a:rPr>
              <a:t>competition</a:t>
            </a:r>
            <a:r>
              <a:rPr lang="en-US" dirty="0"/>
              <a:t> between potential partners </a:t>
            </a:r>
          </a:p>
          <a:p>
            <a:pPr lvl="1"/>
            <a:endParaRPr lang="en-US" dirty="0"/>
          </a:p>
          <a:p>
            <a:r>
              <a:rPr lang="en-US" dirty="0"/>
              <a:t>No cross-pass treatments </a:t>
            </a:r>
            <a:r>
              <a:rPr lang="en-US" dirty="0">
                <a:sym typeface="Wingdings" panose="05000000000000000000" pitchFamily="2" charset="2"/>
              </a:rPr>
              <a:t> more active links since first mover can’t concentrate everything on one link</a:t>
            </a:r>
          </a:p>
          <a:p>
            <a:endParaRPr lang="en-US" dirty="0"/>
          </a:p>
          <a:p>
            <a:r>
              <a:rPr lang="en-US" dirty="0">
                <a:sym typeface="Wingdings" panose="05000000000000000000" pitchFamily="2" charset="2"/>
              </a:rPr>
              <a:t>Some potential partners get </a:t>
            </a:r>
            <a:r>
              <a:rPr lang="en-US" dirty="0">
                <a:solidFill>
                  <a:srgbClr val="FF0000"/>
                </a:solidFill>
                <a:sym typeface="Wingdings" panose="05000000000000000000" pitchFamily="2" charset="2"/>
              </a:rPr>
              <a:t>left out</a:t>
            </a:r>
            <a:r>
              <a:rPr lang="en-US" dirty="0">
                <a:sym typeface="Wingdings" panose="05000000000000000000" pitchFamily="2" charset="2"/>
              </a:rPr>
              <a:t> during the process of creating trust and profitable relationships</a:t>
            </a:r>
            <a:endParaRPr lang="en-US" dirty="0"/>
          </a:p>
          <a:p>
            <a:endParaRPr lang="en-US" dirty="0"/>
          </a:p>
          <a:p>
            <a:pPr marL="0" indent="0">
              <a:buNone/>
            </a:pPr>
            <a:endParaRPr lang="en-US" dirty="0"/>
          </a:p>
        </p:txBody>
      </p:sp>
    </p:spTree>
    <p:extLst>
      <p:ext uri="{BB962C8B-B14F-4D97-AF65-F5344CB8AC3E}">
        <p14:creationId xmlns:p14="http://schemas.microsoft.com/office/powerpoint/2010/main" val="23003280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6918796-2918-40D6-BE3A-4600C47FCD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217A419-7E2E-4C9C-8ADC-06598B082501}"/>
              </a:ext>
            </a:extLst>
          </p:cNvPr>
          <p:cNvSpPr>
            <a:spLocks noGrp="1"/>
          </p:cNvSpPr>
          <p:nvPr>
            <p:ph type="title"/>
          </p:nvPr>
        </p:nvSpPr>
        <p:spPr>
          <a:xfrm>
            <a:off x="838200" y="672747"/>
            <a:ext cx="10515600" cy="715556"/>
          </a:xfrm>
        </p:spPr>
        <p:txBody>
          <a:bodyPr>
            <a:normAutofit/>
          </a:bodyPr>
          <a:lstStyle/>
          <a:p>
            <a:pPr algn="ctr"/>
            <a:r>
              <a:rPr lang="en-US" sz="3200" dirty="0">
                <a:solidFill>
                  <a:schemeClr val="bg1"/>
                </a:solidFill>
              </a:rPr>
              <a:t>Discussion: Case Study #3</a:t>
            </a:r>
          </a:p>
        </p:txBody>
      </p:sp>
      <p:sp>
        <p:nvSpPr>
          <p:cNvPr id="3" name="Content Placeholder 2">
            <a:extLst>
              <a:ext uri="{FF2B5EF4-FFF2-40B4-BE49-F238E27FC236}">
                <a16:creationId xmlns:a16="http://schemas.microsoft.com/office/drawing/2014/main" id="{A584BAC6-8AF7-4235-B044-5DBDDCD8CF68}"/>
              </a:ext>
            </a:extLst>
          </p:cNvPr>
          <p:cNvSpPr>
            <a:spLocks noGrp="1"/>
          </p:cNvSpPr>
          <p:nvPr>
            <p:ph idx="1"/>
          </p:nvPr>
        </p:nvSpPr>
        <p:spPr>
          <a:xfrm>
            <a:off x="1428750" y="1597390"/>
            <a:ext cx="9334500" cy="870305"/>
          </a:xfrm>
        </p:spPr>
        <p:txBody>
          <a:bodyPr>
            <a:normAutofit/>
          </a:bodyPr>
          <a:lstStyle/>
          <a:p>
            <a:pPr marL="0" indent="0" algn="ctr">
              <a:buNone/>
            </a:pPr>
            <a:endParaRPr lang="en-US" sz="1600"/>
          </a:p>
          <a:p>
            <a:pPr algn="ctr"/>
            <a:endParaRPr lang="en-US" sz="1600">
              <a:sym typeface="Wingdings" panose="05000000000000000000" pitchFamily="2" charset="2"/>
            </a:endParaRPr>
          </a:p>
          <a:p>
            <a:pPr algn="ctr"/>
            <a:endParaRPr lang="en-US" sz="1600"/>
          </a:p>
        </p:txBody>
      </p:sp>
      <p:pic>
        <p:nvPicPr>
          <p:cNvPr id="5" name="Picture 4">
            <a:extLst>
              <a:ext uri="{FF2B5EF4-FFF2-40B4-BE49-F238E27FC236}">
                <a16:creationId xmlns:a16="http://schemas.microsoft.com/office/drawing/2014/main" id="{6BB339FB-D83E-42E7-BD4F-C4D176BCF802}"/>
              </a:ext>
            </a:extLst>
          </p:cNvPr>
          <p:cNvPicPr>
            <a:picLocks noChangeAspect="1"/>
          </p:cNvPicPr>
          <p:nvPr/>
        </p:nvPicPr>
        <p:blipFill>
          <a:blip r:embed="rId2"/>
          <a:stretch>
            <a:fillRect/>
          </a:stretch>
        </p:blipFill>
        <p:spPr>
          <a:xfrm>
            <a:off x="87563" y="2467695"/>
            <a:ext cx="12016873" cy="3154429"/>
          </a:xfrm>
          <a:prstGeom prst="rect">
            <a:avLst/>
          </a:prstGeom>
        </p:spPr>
      </p:pic>
    </p:spTree>
    <p:extLst>
      <p:ext uri="{BB962C8B-B14F-4D97-AF65-F5344CB8AC3E}">
        <p14:creationId xmlns:p14="http://schemas.microsoft.com/office/powerpoint/2010/main" val="20974277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27">
            <a:extLst>
              <a:ext uri="{FF2B5EF4-FFF2-40B4-BE49-F238E27FC236}">
                <a16:creationId xmlns:a16="http://schemas.microsoft.com/office/drawing/2014/main" id="{6D6CDB20-394C-4D51-9C5B-8751E21338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5" name="Rounded Rectangle 3">
            <a:extLst>
              <a:ext uri="{FF2B5EF4-FFF2-40B4-BE49-F238E27FC236}">
                <a16:creationId xmlns:a16="http://schemas.microsoft.com/office/drawing/2014/main" id="{46DFD1E0-DCA7-47E6-B78B-6ECDDF873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chemeClr val="tx1">
                <a:lumMod val="50000"/>
                <a:lumOff val="50000"/>
              </a:schemeClr>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AAB0B1E-BB97-40E0-8DCD-D1197A0E1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217A419-7E2E-4C9C-8ADC-06598B082501}"/>
              </a:ext>
            </a:extLst>
          </p:cNvPr>
          <p:cNvSpPr>
            <a:spLocks noGrp="1"/>
          </p:cNvSpPr>
          <p:nvPr>
            <p:ph type="title"/>
          </p:nvPr>
        </p:nvSpPr>
        <p:spPr>
          <a:xfrm>
            <a:off x="1288060" y="1369938"/>
            <a:ext cx="3210854" cy="4114800"/>
          </a:xfrm>
        </p:spPr>
        <p:txBody>
          <a:bodyPr vert="horz" lIns="91440" tIns="45720" rIns="91440" bIns="45720" rtlCol="0" anchor="ctr">
            <a:normAutofit/>
          </a:bodyPr>
          <a:lstStyle/>
          <a:p>
            <a:pPr>
              <a:lnSpc>
                <a:spcPct val="90000"/>
              </a:lnSpc>
              <a:spcAft>
                <a:spcPts val="600"/>
              </a:spcAft>
            </a:pPr>
            <a:r>
              <a:rPr kumimoji="0" lang="en-US" sz="2800" b="0" i="0" u="none" strike="noStrike" cap="none" spc="0" normalizeH="0" baseline="0" noProof="0" dirty="0">
                <a:ln>
                  <a:noFill/>
                </a:ln>
                <a:effectLst/>
                <a:uLnTx/>
                <a:uFillTx/>
                <a:sym typeface="Wingdings" panose="05000000000000000000" pitchFamily="2" charset="2"/>
              </a:rPr>
              <a:t>- Adam Smith, </a:t>
            </a:r>
            <a:br>
              <a:rPr kumimoji="0" lang="en-US" sz="2800" b="0" i="0" u="none" strike="noStrike" cap="none" spc="0" normalizeH="0" baseline="0" noProof="0" dirty="0">
                <a:ln>
                  <a:noFill/>
                </a:ln>
                <a:effectLst/>
                <a:uLnTx/>
                <a:uFillTx/>
                <a:sym typeface="Wingdings" panose="05000000000000000000" pitchFamily="2" charset="2"/>
              </a:rPr>
            </a:br>
            <a:r>
              <a:rPr kumimoji="0" lang="en-US" sz="2800" b="0" i="1" u="none" strike="noStrike" cap="none" spc="0" normalizeH="0" baseline="0" noProof="0" dirty="0">
                <a:ln>
                  <a:noFill/>
                </a:ln>
                <a:effectLst/>
                <a:uLnTx/>
                <a:uFillTx/>
                <a:sym typeface="Wingdings" panose="05000000000000000000" pitchFamily="2" charset="2"/>
              </a:rPr>
              <a:t>A Theory of Moral Sentiments</a:t>
            </a:r>
            <a:r>
              <a:rPr kumimoji="0" lang="en-US" sz="2800" b="0" i="0" u="none" strike="noStrike" cap="none" spc="0" normalizeH="0" baseline="0" noProof="0" dirty="0">
                <a:ln>
                  <a:noFill/>
                </a:ln>
                <a:effectLst/>
                <a:uLnTx/>
                <a:uFillTx/>
                <a:sym typeface="Wingdings" panose="05000000000000000000" pitchFamily="2" charset="2"/>
              </a:rPr>
              <a:t>, VII.iv.27</a:t>
            </a:r>
            <a:endParaRPr lang="en-US" sz="2800" dirty="0"/>
          </a:p>
        </p:txBody>
      </p:sp>
      <p:cxnSp>
        <p:nvCxnSpPr>
          <p:cNvPr id="34" name="Straight Connector 33">
            <a:extLst>
              <a:ext uri="{FF2B5EF4-FFF2-40B4-BE49-F238E27FC236}">
                <a16:creationId xmlns:a16="http://schemas.microsoft.com/office/drawing/2014/main" id="{F492F8DF-EE34-4FC5-9FFE-76EB2E3BBA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5400000">
            <a:off x="3168614" y="3429000"/>
            <a:ext cx="320040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C5ABE9D-11F5-4BEA-87C7-73394102384B}"/>
              </a:ext>
            </a:extLst>
          </p:cNvPr>
          <p:cNvSpPr txBox="1"/>
          <p:nvPr/>
        </p:nvSpPr>
        <p:spPr>
          <a:xfrm>
            <a:off x="5030505" y="1371600"/>
            <a:ext cx="5872185" cy="4114800"/>
          </a:xfrm>
          <a:prstGeom prst="rect">
            <a:avLst/>
          </a:prstGeom>
        </p:spPr>
        <p:txBody>
          <a:bodyPr vert="horz" lIns="91440" tIns="45720" rIns="91440" bIns="45720" rtlCol="0" anchor="ctr">
            <a:normAutofit/>
          </a:bodyPr>
          <a:lstStyle/>
          <a:p>
            <a:pPr>
              <a:lnSpc>
                <a:spcPct val="90000"/>
              </a:lnSpc>
              <a:spcAft>
                <a:spcPts val="600"/>
              </a:spcAft>
            </a:pPr>
            <a:r>
              <a:rPr kumimoji="0" lang="en-US" sz="2800" b="0" i="0" u="none" strike="noStrike" cap="none" spc="0" normalizeH="0" baseline="0" noProof="0" dirty="0">
                <a:ln>
                  <a:noFill/>
                </a:ln>
                <a:effectLst/>
                <a:uLnTx/>
                <a:uFillTx/>
                <a:sym typeface="Wingdings" panose="05000000000000000000" pitchFamily="2" charset="2"/>
              </a:rPr>
              <a:t>"We trust the man who seems willing to trust us. We see clearly, we think, the road by which he means to conduct us, and we abandon ourselves with pleasure to his guidance and direction." </a:t>
            </a:r>
          </a:p>
        </p:txBody>
      </p:sp>
    </p:spTree>
    <p:extLst>
      <p:ext uri="{BB962C8B-B14F-4D97-AF65-F5344CB8AC3E}">
        <p14:creationId xmlns:p14="http://schemas.microsoft.com/office/powerpoint/2010/main" val="2492631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B3512-3EC0-4B77-B3DF-B2DAABE15243}"/>
              </a:ext>
            </a:extLst>
          </p:cNvPr>
          <p:cNvSpPr>
            <a:spLocks noGrp="1"/>
          </p:cNvSpPr>
          <p:nvPr>
            <p:ph type="title"/>
          </p:nvPr>
        </p:nvSpPr>
        <p:spPr/>
        <p:txBody>
          <a:bodyPr/>
          <a:lstStyle/>
          <a:p>
            <a:r>
              <a:rPr lang="en-US" b="1" dirty="0">
                <a:solidFill>
                  <a:srgbClr val="FF0000"/>
                </a:solidFill>
              </a:rPr>
              <a:t>Thank You!</a:t>
            </a:r>
          </a:p>
        </p:txBody>
      </p:sp>
    </p:spTree>
    <p:extLst>
      <p:ext uri="{BB962C8B-B14F-4D97-AF65-F5344CB8AC3E}">
        <p14:creationId xmlns:p14="http://schemas.microsoft.com/office/powerpoint/2010/main" val="17335587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14DF1-A1E7-418E-9A4B-9C5D13666862}"/>
              </a:ext>
            </a:extLst>
          </p:cNvPr>
          <p:cNvSpPr>
            <a:spLocks noGrp="1"/>
          </p:cNvSpPr>
          <p:nvPr>
            <p:ph type="title"/>
          </p:nvPr>
        </p:nvSpPr>
        <p:spPr/>
        <p:txBody>
          <a:bodyPr/>
          <a:lstStyle/>
          <a:p>
            <a:r>
              <a:rPr lang="en-US" dirty="0"/>
              <a:t>Appendix: Statistical Significance</a:t>
            </a:r>
          </a:p>
        </p:txBody>
      </p:sp>
      <p:sp>
        <p:nvSpPr>
          <p:cNvPr id="3" name="Content Placeholder 2">
            <a:extLst>
              <a:ext uri="{FF2B5EF4-FFF2-40B4-BE49-F238E27FC236}">
                <a16:creationId xmlns:a16="http://schemas.microsoft.com/office/drawing/2014/main" id="{9DE34C0A-23D9-44A6-A0EE-CB8C3DA6C4ED}"/>
              </a:ext>
            </a:extLst>
          </p:cNvPr>
          <p:cNvSpPr>
            <a:spLocks noGrp="1"/>
          </p:cNvSpPr>
          <p:nvPr>
            <p:ph idx="1"/>
          </p:nvPr>
        </p:nvSpPr>
        <p:spPr/>
        <p:txBody>
          <a:bodyPr>
            <a:normAutofit/>
          </a:bodyPr>
          <a:lstStyle/>
          <a:p>
            <a:r>
              <a:rPr lang="en-US" dirty="0"/>
              <a:t>Difference in total pass amounts between treatments</a:t>
            </a:r>
          </a:p>
          <a:p>
            <a:pPr lvl="1"/>
            <a:r>
              <a:rPr lang="en-US" dirty="0"/>
              <a:t>Two-tailed p-value: 0.0454</a:t>
            </a:r>
          </a:p>
          <a:p>
            <a:r>
              <a:rPr lang="en-US" dirty="0"/>
              <a:t>Confidence interval:</a:t>
            </a:r>
          </a:p>
          <a:p>
            <a:pPr lvl="1"/>
            <a:r>
              <a:rPr lang="en-US" dirty="0"/>
              <a:t>The mean of (Cross Pass) - (No Cross Pass) =  88.25</a:t>
            </a:r>
          </a:p>
          <a:p>
            <a:pPr lvl="1"/>
            <a:r>
              <a:rPr lang="en-US" dirty="0"/>
              <a:t>95% confidence interval of this difference: (2.472011, 174.028)</a:t>
            </a:r>
          </a:p>
          <a:p>
            <a:r>
              <a:rPr lang="en-US" dirty="0"/>
              <a:t>Intermediate values used in calculations:</a:t>
            </a:r>
          </a:p>
          <a:p>
            <a:pPr lvl="1"/>
            <a:r>
              <a:rPr lang="en-US" dirty="0"/>
              <a:t>t =  2.5174</a:t>
            </a:r>
          </a:p>
          <a:p>
            <a:pPr lvl="1"/>
            <a:r>
              <a:rPr lang="en-US" dirty="0" err="1"/>
              <a:t>df</a:t>
            </a:r>
            <a:r>
              <a:rPr lang="en-US" dirty="0"/>
              <a:t> = 6</a:t>
            </a:r>
          </a:p>
          <a:p>
            <a:r>
              <a:rPr lang="en-US" dirty="0"/>
              <a:t>SE of difference =  35.05561 </a:t>
            </a:r>
          </a:p>
        </p:txBody>
      </p:sp>
    </p:spTree>
    <p:extLst>
      <p:ext uri="{BB962C8B-B14F-4D97-AF65-F5344CB8AC3E}">
        <p14:creationId xmlns:p14="http://schemas.microsoft.com/office/powerpoint/2010/main" val="11791438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14DF1-A1E7-418E-9A4B-9C5D13666862}"/>
              </a:ext>
            </a:extLst>
          </p:cNvPr>
          <p:cNvSpPr>
            <a:spLocks noGrp="1"/>
          </p:cNvSpPr>
          <p:nvPr>
            <p:ph type="title"/>
          </p:nvPr>
        </p:nvSpPr>
        <p:spPr/>
        <p:txBody>
          <a:bodyPr/>
          <a:lstStyle/>
          <a:p>
            <a:r>
              <a:rPr lang="en-US" dirty="0"/>
              <a:t>Appendix: Statistical Significance</a:t>
            </a:r>
          </a:p>
        </p:txBody>
      </p:sp>
      <p:graphicFrame>
        <p:nvGraphicFramePr>
          <p:cNvPr id="5" name="Table 5">
            <a:extLst>
              <a:ext uri="{FF2B5EF4-FFF2-40B4-BE49-F238E27FC236}">
                <a16:creationId xmlns:a16="http://schemas.microsoft.com/office/drawing/2014/main" id="{B8F5F74F-3BF8-4CF3-9C3B-E68DB95DE7A0}"/>
              </a:ext>
            </a:extLst>
          </p:cNvPr>
          <p:cNvGraphicFramePr>
            <a:graphicFrameLocks noGrp="1"/>
          </p:cNvGraphicFramePr>
          <p:nvPr>
            <p:ph idx="1"/>
            <p:extLst>
              <p:ext uri="{D42A27DB-BD31-4B8C-83A1-F6EECF244321}">
                <p14:modId xmlns:p14="http://schemas.microsoft.com/office/powerpoint/2010/main" val="947597181"/>
              </p:ext>
            </p:extLst>
          </p:nvPr>
        </p:nvGraphicFramePr>
        <p:xfrm>
          <a:off x="838200" y="1825625"/>
          <a:ext cx="10515597" cy="1752693"/>
        </p:xfrm>
        <a:graphic>
          <a:graphicData uri="http://schemas.openxmlformats.org/drawingml/2006/table">
            <a:tbl>
              <a:tblPr firstRow="1" bandRow="1">
                <a:tableStyleId>{F5AB1C69-6EDB-4FF4-983F-18BD219EF322}</a:tableStyleId>
              </a:tblPr>
              <a:tblGrid>
                <a:gridCol w="3505199">
                  <a:extLst>
                    <a:ext uri="{9D8B030D-6E8A-4147-A177-3AD203B41FA5}">
                      <a16:colId xmlns:a16="http://schemas.microsoft.com/office/drawing/2014/main" val="754739595"/>
                    </a:ext>
                  </a:extLst>
                </a:gridCol>
                <a:gridCol w="3505199">
                  <a:extLst>
                    <a:ext uri="{9D8B030D-6E8A-4147-A177-3AD203B41FA5}">
                      <a16:colId xmlns:a16="http://schemas.microsoft.com/office/drawing/2014/main" val="1032041097"/>
                    </a:ext>
                  </a:extLst>
                </a:gridCol>
                <a:gridCol w="3505199">
                  <a:extLst>
                    <a:ext uri="{9D8B030D-6E8A-4147-A177-3AD203B41FA5}">
                      <a16:colId xmlns:a16="http://schemas.microsoft.com/office/drawing/2014/main" val="2463477402"/>
                    </a:ext>
                  </a:extLst>
                </a:gridCol>
              </a:tblGrid>
              <a:tr h="640173">
                <a:tc>
                  <a:txBody>
                    <a:bodyPr/>
                    <a:lstStyle/>
                    <a:p>
                      <a:r>
                        <a:rPr lang="en-US" dirty="0"/>
                        <a:t>Group</a:t>
                      </a:r>
                    </a:p>
                  </a:txBody>
                  <a:tcPr/>
                </a:tc>
                <a:tc>
                  <a:txBody>
                    <a:bodyPr/>
                    <a:lstStyle/>
                    <a:p>
                      <a:r>
                        <a:rPr lang="en-US" dirty="0"/>
                        <a:t>Group 1: Cross Pass</a:t>
                      </a:r>
                    </a:p>
                  </a:txBody>
                  <a:tcPr/>
                </a:tc>
                <a:tc>
                  <a:txBody>
                    <a:bodyPr/>
                    <a:lstStyle/>
                    <a:p>
                      <a:r>
                        <a:rPr lang="en-US" dirty="0"/>
                        <a:t>Group 2: No Cross Pass</a:t>
                      </a:r>
                    </a:p>
                  </a:txBody>
                  <a:tcPr/>
                </a:tc>
                <a:extLst>
                  <a:ext uri="{0D108BD9-81ED-4DB2-BD59-A6C34878D82A}">
                    <a16:rowId xmlns:a16="http://schemas.microsoft.com/office/drawing/2014/main" val="895109223"/>
                  </a:ext>
                </a:extLst>
              </a:tr>
              <a:tr h="370840">
                <a:tc>
                  <a:txBody>
                    <a:bodyPr/>
                    <a:lstStyle/>
                    <a:p>
                      <a:r>
                        <a:rPr lang="en-US" dirty="0"/>
                        <a:t>Mean</a:t>
                      </a:r>
                    </a:p>
                  </a:txBody>
                  <a:tcPr/>
                </a:tc>
                <a:tc>
                  <a:txBody>
                    <a:bodyPr/>
                    <a:lstStyle/>
                    <a:p>
                      <a:r>
                        <a:rPr lang="en-US" dirty="0"/>
                        <a:t>428.25</a:t>
                      </a:r>
                    </a:p>
                  </a:txBody>
                  <a:tcPr/>
                </a:tc>
                <a:tc>
                  <a:txBody>
                    <a:bodyPr/>
                    <a:lstStyle/>
                    <a:p>
                      <a:r>
                        <a:rPr lang="en-US" dirty="0"/>
                        <a:t>340</a:t>
                      </a:r>
                    </a:p>
                  </a:txBody>
                  <a:tcPr/>
                </a:tc>
                <a:extLst>
                  <a:ext uri="{0D108BD9-81ED-4DB2-BD59-A6C34878D82A}">
                    <a16:rowId xmlns:a16="http://schemas.microsoft.com/office/drawing/2014/main" val="3138336316"/>
                  </a:ext>
                </a:extLst>
              </a:tr>
              <a:tr h="370840">
                <a:tc>
                  <a:txBody>
                    <a:bodyPr/>
                    <a:lstStyle/>
                    <a:p>
                      <a:r>
                        <a:rPr lang="en-US" dirty="0"/>
                        <a:t>SD</a:t>
                      </a:r>
                    </a:p>
                  </a:txBody>
                  <a:tcPr/>
                </a:tc>
                <a:tc>
                  <a:txBody>
                    <a:bodyPr/>
                    <a:lstStyle/>
                    <a:p>
                      <a:r>
                        <a:rPr lang="en-US" dirty="0"/>
                        <a:t>48.692</a:t>
                      </a:r>
                    </a:p>
                  </a:txBody>
                  <a:tcPr/>
                </a:tc>
                <a:tc>
                  <a:txBody>
                    <a:bodyPr/>
                    <a:lstStyle/>
                    <a:p>
                      <a:r>
                        <a:rPr lang="en-US" dirty="0"/>
                        <a:t>50.444</a:t>
                      </a:r>
                    </a:p>
                  </a:txBody>
                  <a:tcPr/>
                </a:tc>
                <a:extLst>
                  <a:ext uri="{0D108BD9-81ED-4DB2-BD59-A6C34878D82A}">
                    <a16:rowId xmlns:a16="http://schemas.microsoft.com/office/drawing/2014/main" val="1654738135"/>
                  </a:ext>
                </a:extLst>
              </a:tr>
              <a:tr h="370840">
                <a:tc>
                  <a:txBody>
                    <a:bodyPr/>
                    <a:lstStyle/>
                    <a:p>
                      <a:r>
                        <a:rPr lang="en-US" dirty="0"/>
                        <a:t>N</a:t>
                      </a:r>
                    </a:p>
                  </a:txBody>
                  <a:tcPr/>
                </a:tc>
                <a:tc>
                  <a:txBody>
                    <a:bodyPr/>
                    <a:lstStyle/>
                    <a:p>
                      <a:r>
                        <a:rPr lang="en-US" dirty="0"/>
                        <a:t>4</a:t>
                      </a:r>
                    </a:p>
                  </a:txBody>
                  <a:tcPr/>
                </a:tc>
                <a:tc>
                  <a:txBody>
                    <a:bodyPr/>
                    <a:lstStyle/>
                    <a:p>
                      <a:r>
                        <a:rPr lang="en-US" dirty="0"/>
                        <a:t>4</a:t>
                      </a:r>
                    </a:p>
                  </a:txBody>
                  <a:tcPr/>
                </a:tc>
                <a:extLst>
                  <a:ext uri="{0D108BD9-81ED-4DB2-BD59-A6C34878D82A}">
                    <a16:rowId xmlns:a16="http://schemas.microsoft.com/office/drawing/2014/main" val="3767520147"/>
                  </a:ext>
                </a:extLst>
              </a:tr>
            </a:tbl>
          </a:graphicData>
        </a:graphic>
      </p:graphicFrame>
    </p:spTree>
    <p:extLst>
      <p:ext uri="{BB962C8B-B14F-4D97-AF65-F5344CB8AC3E}">
        <p14:creationId xmlns:p14="http://schemas.microsoft.com/office/powerpoint/2010/main" val="22930486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71E7D7-DDD5-4CDB-977B-2D56860DB132}"/>
              </a:ext>
            </a:extLst>
          </p:cNvPr>
          <p:cNvPicPr>
            <a:picLocks noChangeAspect="1"/>
          </p:cNvPicPr>
          <p:nvPr/>
        </p:nvPicPr>
        <p:blipFill>
          <a:blip r:embed="rId2"/>
          <a:stretch>
            <a:fillRect/>
          </a:stretch>
        </p:blipFill>
        <p:spPr>
          <a:xfrm>
            <a:off x="0" y="150320"/>
            <a:ext cx="12192000" cy="6557360"/>
          </a:xfrm>
          <a:prstGeom prst="rect">
            <a:avLst/>
          </a:prstGeom>
        </p:spPr>
      </p:pic>
    </p:spTree>
    <p:extLst>
      <p:ext uri="{BB962C8B-B14F-4D97-AF65-F5344CB8AC3E}">
        <p14:creationId xmlns:p14="http://schemas.microsoft.com/office/powerpoint/2010/main" val="392214632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6178</TotalTime>
  <Words>2008</Words>
  <Application>Microsoft Office PowerPoint</Application>
  <PresentationFormat>Widescreen</PresentationFormat>
  <Paragraphs>172</Paragraphs>
  <Slides>31</Slides>
  <Notes>7</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36" baseType="lpstr">
      <vt:lpstr>Arial</vt:lpstr>
      <vt:lpstr>Calibri</vt:lpstr>
      <vt:lpstr>Calibri Light</vt:lpstr>
      <vt:lpstr>Office Theme</vt:lpstr>
      <vt:lpstr>Chart</vt:lpstr>
      <vt:lpstr>Trust &amp;  Choice of Partners</vt:lpstr>
      <vt:lpstr>Impersonal Markets and Personal Interactions</vt:lpstr>
      <vt:lpstr>Impersonal Markets and Personal Interactions</vt:lpstr>
      <vt:lpstr>Preview of Results</vt:lpstr>
      <vt:lpstr>Prior Work: Holt, Johnson, and Schmidtz (2016) on Adam Smith</vt:lpstr>
      <vt:lpstr>Prisoner’s Dilemma Incentives</vt:lpstr>
      <vt:lpstr>Sustained High Cooperation in a Prisoner’s Dilemma (Holt, Johnson, and Schmidtz, 2016)</vt:lpstr>
      <vt:lpstr> Trust Beyond the Prisoner’s Dilemma</vt:lpstr>
      <vt:lpstr>Combination of Two Games</vt:lpstr>
      <vt:lpstr>Combination of Two Games</vt:lpstr>
      <vt:lpstr>Combination of Two Games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Study #1: No Cross-Pass</vt:lpstr>
      <vt:lpstr>Case Study #2: Cross-Pass</vt:lpstr>
      <vt:lpstr>PowerPoint Presentation</vt:lpstr>
      <vt:lpstr>PowerPoint Presentation</vt:lpstr>
      <vt:lpstr>Discussion</vt:lpstr>
      <vt:lpstr>Discussion: Case Study #3</vt:lpstr>
      <vt:lpstr>- Adam Smith,  A Theory of Moral Sentiments, VII.iv.27</vt:lpstr>
      <vt:lpstr>Thank You!</vt:lpstr>
      <vt:lpstr>Appendix: Statistical Significance</vt:lpstr>
      <vt:lpstr>Appendix: Statistical Significance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 &amp;  Choice of Partners</dc:title>
  <dc:creator>Sprott, Erica</dc:creator>
  <cp:lastModifiedBy>Sprott, Erica</cp:lastModifiedBy>
  <cp:revision>81</cp:revision>
  <dcterms:created xsi:type="dcterms:W3CDTF">2022-10-26T03:20:13Z</dcterms:created>
  <dcterms:modified xsi:type="dcterms:W3CDTF">2023-01-10T04:14:39Z</dcterms:modified>
</cp:coreProperties>
</file>